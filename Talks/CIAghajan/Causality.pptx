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55"/>
  </p:notesMasterIdLst>
  <p:handoutMasterIdLst>
    <p:handoutMasterId r:id="rId56"/>
  </p:handoutMasterIdLst>
  <p:sldIdLst>
    <p:sldId id="256" r:id="rId2"/>
    <p:sldId id="390" r:id="rId3"/>
    <p:sldId id="384" r:id="rId4"/>
    <p:sldId id="342" r:id="rId5"/>
    <p:sldId id="394" r:id="rId6"/>
    <p:sldId id="341" r:id="rId7"/>
    <p:sldId id="396" r:id="rId8"/>
    <p:sldId id="270" r:id="rId9"/>
    <p:sldId id="264" r:id="rId10"/>
    <p:sldId id="265" r:id="rId11"/>
    <p:sldId id="271" r:id="rId12"/>
    <p:sldId id="262" r:id="rId13"/>
    <p:sldId id="343" r:id="rId14"/>
    <p:sldId id="345" r:id="rId15"/>
    <p:sldId id="385" r:id="rId16"/>
    <p:sldId id="391" r:id="rId17"/>
    <p:sldId id="346" r:id="rId18"/>
    <p:sldId id="274" r:id="rId19"/>
    <p:sldId id="367" r:id="rId20"/>
    <p:sldId id="352" r:id="rId21"/>
    <p:sldId id="377" r:id="rId22"/>
    <p:sldId id="365" r:id="rId23"/>
    <p:sldId id="369" r:id="rId24"/>
    <p:sldId id="388" r:id="rId25"/>
    <p:sldId id="389" r:id="rId26"/>
    <p:sldId id="371" r:id="rId27"/>
    <p:sldId id="372" r:id="rId28"/>
    <p:sldId id="373" r:id="rId29"/>
    <p:sldId id="379" r:id="rId30"/>
    <p:sldId id="374" r:id="rId31"/>
    <p:sldId id="378" r:id="rId32"/>
    <p:sldId id="381" r:id="rId33"/>
    <p:sldId id="395" r:id="rId34"/>
    <p:sldId id="382" r:id="rId35"/>
    <p:sldId id="397" r:id="rId36"/>
    <p:sldId id="356" r:id="rId37"/>
    <p:sldId id="357" r:id="rId38"/>
    <p:sldId id="358" r:id="rId39"/>
    <p:sldId id="380" r:id="rId40"/>
    <p:sldId id="375" r:id="rId41"/>
    <p:sldId id="386" r:id="rId42"/>
    <p:sldId id="387" r:id="rId43"/>
    <p:sldId id="360" r:id="rId44"/>
    <p:sldId id="329" r:id="rId45"/>
    <p:sldId id="331" r:id="rId46"/>
    <p:sldId id="361" r:id="rId47"/>
    <p:sldId id="332" r:id="rId48"/>
    <p:sldId id="362" r:id="rId49"/>
    <p:sldId id="354" r:id="rId50"/>
    <p:sldId id="363" r:id="rId51"/>
    <p:sldId id="364" r:id="rId52"/>
    <p:sldId id="392" r:id="rId53"/>
    <p:sldId id="393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4EDC03-44A3-42C9-B20F-6EF781077C70}">
          <p14:sldIdLst>
            <p14:sldId id="256"/>
            <p14:sldId id="390"/>
            <p14:sldId id="384"/>
            <p14:sldId id="342"/>
            <p14:sldId id="394"/>
            <p14:sldId id="341"/>
            <p14:sldId id="396"/>
            <p14:sldId id="270"/>
            <p14:sldId id="264"/>
            <p14:sldId id="265"/>
            <p14:sldId id="271"/>
            <p14:sldId id="262"/>
            <p14:sldId id="343"/>
            <p14:sldId id="345"/>
            <p14:sldId id="385"/>
            <p14:sldId id="391"/>
            <p14:sldId id="346"/>
            <p14:sldId id="274"/>
            <p14:sldId id="367"/>
            <p14:sldId id="352"/>
            <p14:sldId id="377"/>
            <p14:sldId id="365"/>
            <p14:sldId id="369"/>
            <p14:sldId id="388"/>
            <p14:sldId id="389"/>
            <p14:sldId id="371"/>
            <p14:sldId id="372"/>
            <p14:sldId id="373"/>
            <p14:sldId id="379"/>
            <p14:sldId id="374"/>
            <p14:sldId id="378"/>
            <p14:sldId id="381"/>
            <p14:sldId id="395"/>
            <p14:sldId id="382"/>
            <p14:sldId id="397"/>
            <p14:sldId id="356"/>
            <p14:sldId id="357"/>
            <p14:sldId id="358"/>
            <p14:sldId id="380"/>
            <p14:sldId id="375"/>
            <p14:sldId id="386"/>
            <p14:sldId id="387"/>
            <p14:sldId id="360"/>
            <p14:sldId id="329"/>
            <p14:sldId id="331"/>
            <p14:sldId id="361"/>
            <p14:sldId id="332"/>
            <p14:sldId id="362"/>
            <p14:sldId id="354"/>
            <p14:sldId id="363"/>
            <p14:sldId id="364"/>
            <p14:sldId id="392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hrad Moniri" initials="BM" lastIdx="1" clrIdx="0">
    <p:extLst>
      <p:ext uri="{19B8F6BF-5375-455C-9EA6-DF929625EA0E}">
        <p15:presenceInfo xmlns:p15="http://schemas.microsoft.com/office/powerpoint/2012/main" userId="e1ba35eca987202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86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292D5B1-2481-4AE1-9528-8C93EABB8DAB}" type="datetimeFigureOut">
              <a:rPr lang="fa-IR" smtClean="0"/>
              <a:t>21/08/1440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r>
              <a:rPr lang="en-US" smtClean="0"/>
              <a:t>Behrad Moniri - AIRLab</a:t>
            </a:r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3FF9B05-981E-40B6-A9F7-05CF2D1F930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976476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1C5B8-2010-41FF-B84A-1931F580AAC1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Behrad Moniri - AIRLab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963DF-5973-4786-8835-F1D249EDD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1560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C963DF-5973-4786-8835-F1D249EDD727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Behrad Moniri - AIRLab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8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C963DF-5973-4786-8835-F1D249EDD72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Behrad Moniri - AIRLab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62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Behrad Moniri - AIRLab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C963DF-5973-4786-8835-F1D249EDD72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95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DFBB290F-2AF1-4150-A533-0221BB8C3C4A}" type="datetime1">
              <a:rPr lang="en-US" smtClean="0"/>
              <a:t>4/26/2019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56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D4DF1-D9E1-444D-AFD9-AC14DDB67E16}" type="datetime1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9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58C0-D6F1-47B1-A107-3214578C0637}" type="datetime1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5398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53BD-2E0A-4CB9-8A3B-59AB65A33364}" type="datetime1">
              <a:rPr lang="en-US" smtClean="0"/>
              <a:t>4/26/2019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08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45EA-47F5-46E7-9374-FCF8F0640071}" type="datetime1">
              <a:rPr lang="en-US" smtClean="0"/>
              <a:t>4/26/2019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0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3732-B275-4023-8753-6B3C42C4293C}" type="datetime1">
              <a:rPr lang="en-US" smtClean="0"/>
              <a:t>4/26/2019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9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17238-DBFC-4740-8326-E5AAF5E23E1C}" type="datetime1">
              <a:rPr lang="en-US" smtClean="0"/>
              <a:t>4/26/2019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65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AB47-8BEF-4BA6-B052-F1C5735D73C6}" type="datetime1">
              <a:rPr lang="en-US" smtClean="0"/>
              <a:t>4/26/2019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1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D8E75-5FC1-41F6-8977-05DD59CE51BF}" type="datetime1">
              <a:rPr lang="en-US" smtClean="0"/>
              <a:t>4/26/2019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4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F57A-45F3-44BB-B7E3-7B3BA0284853}" type="datetime1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5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ED386-1A52-4488-BBC6-4BE4CB1A8592}" type="datetime1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1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A4BF18-FE16-46C2-BF82-0156ADC8E7C0}" type="datetime1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813D6EB-3F97-4025-A8F1-03074C736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0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dt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r" defTabSz="914400" rtl="1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r" defTabSz="914400" rtl="1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r" defTabSz="914400" rtl="1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r" defTabSz="914400" rtl="1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r" defTabSz="914400" rtl="1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r" defTabSz="914400" rtl="1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r" defTabSz="914400" rtl="1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r" defTabSz="914400" rtl="1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r" defTabSz="914400" rtl="1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../clipboard/media/image4.png"/><Relationship Id="rId2" Type="http://schemas.openxmlformats.org/officeDocument/2006/relationships/image" Target="../../clipboard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jpeg"/><Relationship Id="rId2" Type="http://schemas.openxmlformats.org/officeDocument/2006/relationships/hyperlink" Target="http://ee.sharif.edu/~bemoniri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9867"/>
            <a:ext cx="7772400" cy="2387600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Causal Inference</a:t>
            </a:r>
            <a:br>
              <a:rPr lang="en-US" sz="4400" dirty="0" smtClean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</a:rPr>
              <a:t>and its </a:t>
            </a:r>
            <a:r>
              <a:rPr lang="en-US" sz="2800" dirty="0" smtClean="0">
                <a:solidFill>
                  <a:schemeClr val="bg1"/>
                </a:solidFill>
              </a:rPr>
              <a:t>Applications </a:t>
            </a:r>
            <a:r>
              <a:rPr lang="en-US" sz="2800" dirty="0" smtClean="0">
                <a:solidFill>
                  <a:schemeClr val="bg1"/>
                </a:solidFill>
              </a:rPr>
              <a:t>in </a:t>
            </a:r>
            <a:r>
              <a:rPr lang="en-US" sz="2800" dirty="0" smtClean="0">
                <a:solidFill>
                  <a:schemeClr val="bg1"/>
                </a:solidFill>
              </a:rPr>
              <a:t>Neuroimaging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35576"/>
            <a:ext cx="6858000" cy="165576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Behrad Moniri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Augmented Intelligence Research Lab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Sharif University of Technology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 smtClean="0">
                <a:solidFill>
                  <a:schemeClr val="bg1"/>
                </a:solidFill>
              </a:rPr>
              <a:t>Behrad Moniri - CI in Neuroimaging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11" y="4784166"/>
            <a:ext cx="1583708" cy="1583708"/>
          </a:xfrm>
          <a:prstGeom prst="rect">
            <a:avLst/>
          </a:prstGeom>
        </p:spPr>
      </p:pic>
      <p:sp>
        <p:nvSpPr>
          <p:cNvPr id="5" name="AutoShape 2" descr="Image result for sharif university of technology"/>
          <p:cNvSpPr>
            <a:spLocks noChangeAspect="1" noChangeArrowheads="1"/>
          </p:cNvSpPr>
          <p:nvPr/>
        </p:nvSpPr>
        <p:spPr bwMode="auto">
          <a:xfrm>
            <a:off x="-1460500" y="-136525"/>
            <a:ext cx="336232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Image result for sharif university of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607" y="4678409"/>
            <a:ext cx="1721409" cy="162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0" y="0"/>
            <a:ext cx="350378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1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22" y="357214"/>
            <a:ext cx="7269480" cy="1325562"/>
          </a:xfrm>
        </p:spPr>
        <p:txBody>
          <a:bodyPr/>
          <a:lstStyle/>
          <a:p>
            <a:r>
              <a:rPr lang="en-US" dirty="0" smtClean="0"/>
              <a:t>Contents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Font typeface="Courier New" panose="02070309020205020404" pitchFamily="49" charset="0"/>
              <a:buChar char="o"/>
            </a:pPr>
            <a:r>
              <a:rPr lang="en-US" b="1" dirty="0" smtClean="0"/>
              <a:t>Causal Inference Framework</a:t>
            </a: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b="1" dirty="0" smtClean="0"/>
              <a:t>Causal Learning Algorithms and Applications in Neuroimaging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/>
              <a:t>PC Algorithm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/>
              <a:t>GES and </a:t>
            </a:r>
            <a:r>
              <a:rPr lang="en-US" dirty="0" err="1"/>
              <a:t>IMaGES</a:t>
            </a:r>
            <a:endParaRPr lang="en-US" dirty="0"/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 err="1"/>
              <a:t>LiNGAM</a:t>
            </a:r>
            <a:endParaRPr lang="en-US" dirty="0"/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/>
              <a:t>Additive Noise Models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/>
              <a:t>Fast Causal Inference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/>
              <a:t>Granger Causality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 err="1"/>
              <a:t>TiMINo</a:t>
            </a:r>
            <a:r>
              <a:rPr lang="en-US" dirty="0"/>
              <a:t> Causality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/>
              <a:t>Dynamic Causal Modeling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dirty="0"/>
              <a:t>Stimulus-based Causal </a:t>
            </a:r>
            <a:r>
              <a:rPr lang="en-US" dirty="0" smtClean="0"/>
              <a:t>Inference</a:t>
            </a:r>
            <a:endParaRPr lang="en-US" b="1" dirty="0" smtClean="0"/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b="1" dirty="0" smtClean="0"/>
              <a:t>Implementations</a:t>
            </a:r>
            <a:endParaRPr lang="en-US" b="1" dirty="0"/>
          </a:p>
          <a:p>
            <a:pPr lvl="1" algn="l" rtl="0"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algn="l" rtl="0">
              <a:buFont typeface="Courier New" panose="02070309020205020404" pitchFamily="49" charset="0"/>
              <a:buChar char="o"/>
            </a:pPr>
            <a:endParaRPr lang="fa-I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6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33152" y="5297111"/>
            <a:ext cx="7589520" cy="822960"/>
          </a:xfrm>
        </p:spPr>
        <p:txBody>
          <a:bodyPr/>
          <a:lstStyle/>
          <a:p>
            <a:pPr algn="ctr"/>
            <a:r>
              <a:rPr lang="en-US" dirty="0" smtClean="0"/>
              <a:t>Causal Inference</a:t>
            </a:r>
            <a:r>
              <a:rPr lang="en-US" dirty="0"/>
              <a:t> </a:t>
            </a:r>
            <a:r>
              <a:rPr lang="en-US" dirty="0" smtClean="0"/>
              <a:t>Framework</a:t>
            </a:r>
            <a:endParaRPr lang="fa-I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6784"/>
            <a:ext cx="8355798" cy="255231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4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877456" y="667611"/>
            <a:ext cx="6561137" cy="5427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254" y="6207453"/>
            <a:ext cx="8087470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100" dirty="0" smtClean="0"/>
              <a:t>FH </a:t>
            </a:r>
            <a:r>
              <a:rPr lang="en-US" sz="1100" dirty="0" err="1"/>
              <a:t>Messerli</a:t>
            </a:r>
            <a:r>
              <a:rPr lang="en-US" sz="1100" dirty="0"/>
              <a:t>, Chocolate Consumption, Cognitive Function, and Nobel Laureates. New England Journal of Medicine, </a:t>
            </a:r>
            <a:r>
              <a:rPr lang="en-US" sz="1100" dirty="0" smtClean="0"/>
              <a:t>2012</a:t>
            </a:r>
            <a:endParaRPr lang="fa-IR" sz="11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77456" y="5623132"/>
            <a:ext cx="6453066" cy="4721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1722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37" y="903392"/>
            <a:ext cx="7554018" cy="55656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7437" y="5127476"/>
            <a:ext cx="3375589" cy="1546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8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48" y="373720"/>
            <a:ext cx="7269480" cy="1325562"/>
          </a:xfrm>
        </p:spPr>
        <p:txBody>
          <a:bodyPr/>
          <a:lstStyle/>
          <a:p>
            <a:r>
              <a:rPr lang="en-US" dirty="0" smtClean="0"/>
              <a:t>Goal of Causal Inference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320038" y="1911083"/>
                <a:ext cx="7886700" cy="4351338"/>
              </a:xfrm>
            </p:spPr>
            <p:txBody>
              <a:bodyPr/>
              <a:lstStyle/>
              <a:p>
                <a:pPr algn="l" rtl="0"/>
                <a:r>
                  <a:rPr lang="en-US" dirty="0" smtClean="0"/>
                  <a:t>Causation predicts the impact of intervention</a:t>
                </a:r>
              </a:p>
              <a:p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cat</m:t>
                              </m:r>
                            </m:e>
                          </m:d>
                        </m:e>
                      </m:d>
                      <m:r>
                        <a:rPr lang="en-US" sz="3600" b="0" i="1" dirty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𝑑𝑜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dog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fa-IR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038" y="1911083"/>
                <a:ext cx="7886700" cy="4351338"/>
              </a:xfrm>
              <a:blipFill rotWithShape="0">
                <a:blip r:embed="rId2"/>
                <a:stretch>
                  <a:fillRect l="-77" t="-980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226" y="2309048"/>
            <a:ext cx="4886325" cy="15811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1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29" y="436880"/>
            <a:ext cx="7269480" cy="1325562"/>
          </a:xfrm>
        </p:spPr>
        <p:txBody>
          <a:bodyPr/>
          <a:lstStyle/>
          <a:p>
            <a:r>
              <a:rPr lang="en-US" dirty="0" smtClean="0"/>
              <a:t>Intervention and Observation</a:t>
            </a:r>
            <a:endParaRPr lang="fa-IR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7966" y="2805867"/>
            <a:ext cx="2712244" cy="211976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4829" y="2076648"/>
            <a:ext cx="566212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/>
              <a:t>Parent Myopia, Child Myopia and Night light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(Effects of Confounding)</a:t>
            </a:r>
            <a:endParaRPr lang="fa-I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52864" y="5008520"/>
                <a:ext cx="1646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r>
                  <a:rPr lang="en-US" dirty="0" smtClean="0"/>
                  <a:t>NL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⫫</m:t>
                    </m:r>
                  </m:oMath>
                </a14:m>
                <a:r>
                  <a:rPr lang="en-US" dirty="0" smtClean="0"/>
                  <a:t> CM | PM</a:t>
                </a:r>
                <a:endParaRPr lang="fa-IR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864" y="5008520"/>
                <a:ext cx="1646285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8519" t="-28889" r="-8148" b="-51111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847146" y="4962353"/>
                <a:ext cx="1191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NL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⫫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CM</a:t>
                </a:r>
                <a:endParaRPr lang="fa-IR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146" y="4962353"/>
                <a:ext cx="1191352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082" t="-8197" r="-4082" b="-24590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64160" y="5500882"/>
            <a:ext cx="5774338" cy="156966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G. E. Quinn, C. H. Shin, M. G. Maguire, and R. A. Stone. Myopia and ambient</a:t>
            </a:r>
            <a:br>
              <a:rPr lang="en-US" sz="1200" dirty="0"/>
            </a:br>
            <a:r>
              <a:rPr lang="en-US" sz="1200" dirty="0"/>
              <a:t>lighting at night. </a:t>
            </a:r>
            <a:r>
              <a:rPr lang="en-US" sz="1200" i="1" dirty="0"/>
              <a:t>Nature</a:t>
            </a:r>
            <a:r>
              <a:rPr lang="en-US" sz="1200" dirty="0"/>
              <a:t>, 399:113–114, 1999 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/>
              <a:t>K. </a:t>
            </a:r>
            <a:r>
              <a:rPr lang="en-US" sz="1200" dirty="0" err="1"/>
              <a:t>Zadnik</a:t>
            </a:r>
            <a:r>
              <a:rPr lang="en-US" sz="1200" dirty="0"/>
              <a:t>, L. A. Jones, B. C. Irvin, R. N. </a:t>
            </a:r>
            <a:r>
              <a:rPr lang="en-US" sz="1200" dirty="0" err="1"/>
              <a:t>Kleinstein</a:t>
            </a:r>
            <a:r>
              <a:rPr lang="en-US" sz="1200" dirty="0"/>
              <a:t>, R. E. Manny, J. A. Shin,</a:t>
            </a:r>
            <a:br>
              <a:rPr lang="en-US" sz="1200" dirty="0"/>
            </a:br>
            <a:r>
              <a:rPr lang="en-US" sz="1200" dirty="0"/>
              <a:t>and D. O. </a:t>
            </a:r>
            <a:r>
              <a:rPr lang="en-US" sz="1200" dirty="0" err="1"/>
              <a:t>Mutti</a:t>
            </a:r>
            <a:r>
              <a:rPr lang="en-US" sz="1200" dirty="0"/>
              <a:t>. Vision: Myopia and ambient night-time lighting. </a:t>
            </a:r>
            <a:r>
              <a:rPr lang="en-US" sz="1200" i="1" dirty="0"/>
              <a:t>Nature</a:t>
            </a:r>
            <a:r>
              <a:rPr lang="en-US" sz="1200" dirty="0"/>
              <a:t>, 404:</a:t>
            </a:r>
            <a:br>
              <a:rPr lang="en-US" sz="1200" dirty="0"/>
            </a:br>
            <a:r>
              <a:rPr lang="en-US" sz="1200" dirty="0"/>
              <a:t>143–144, 2000 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endParaRPr lang="fa-IR" sz="12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5345430" y="5101823"/>
            <a:ext cx="144780" cy="973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42822" y="3224170"/>
            <a:ext cx="302839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Randomized Experiments</a:t>
            </a:r>
            <a:endParaRPr lang="fa-IR" dirty="0"/>
          </a:p>
        </p:txBody>
      </p:sp>
      <p:sp>
        <p:nvSpPr>
          <p:cNvPr id="17" name="Freeform 16"/>
          <p:cNvSpPr/>
          <p:nvPr/>
        </p:nvSpPr>
        <p:spPr>
          <a:xfrm>
            <a:off x="6360071" y="3725966"/>
            <a:ext cx="544932" cy="1204490"/>
          </a:xfrm>
          <a:custGeom>
            <a:avLst/>
            <a:gdLst>
              <a:gd name="connsiteX0" fmla="*/ 0 w 2389660"/>
              <a:gd name="connsiteY0" fmla="*/ 2202749 h 2202749"/>
              <a:gd name="connsiteX1" fmla="*/ 965675 w 2389660"/>
              <a:gd name="connsiteY1" fmla="*/ 1237074 h 2202749"/>
              <a:gd name="connsiteX2" fmla="*/ 1410056 w 2389660"/>
              <a:gd name="connsiteY2" fmla="*/ 1331078 h 2202749"/>
              <a:gd name="connsiteX3" fmla="*/ 2256090 w 2389660"/>
              <a:gd name="connsiteY3" fmla="*/ 160304 h 2202749"/>
              <a:gd name="connsiteX4" fmla="*/ 2375731 w 2389660"/>
              <a:gd name="connsiteY4" fmla="*/ 40663 h 2202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660" h="2202749">
                <a:moveTo>
                  <a:pt x="0" y="2202749"/>
                </a:moveTo>
                <a:cubicBezTo>
                  <a:pt x="365333" y="1792550"/>
                  <a:pt x="730666" y="1382352"/>
                  <a:pt x="965675" y="1237074"/>
                </a:cubicBezTo>
                <a:cubicBezTo>
                  <a:pt x="1200684" y="1091795"/>
                  <a:pt x="1194987" y="1510540"/>
                  <a:pt x="1410056" y="1331078"/>
                </a:cubicBezTo>
                <a:cubicBezTo>
                  <a:pt x="1625125" y="1151616"/>
                  <a:pt x="2095144" y="375373"/>
                  <a:pt x="2256090" y="160304"/>
                </a:cubicBezTo>
                <a:cubicBezTo>
                  <a:pt x="2417036" y="-54765"/>
                  <a:pt x="2396383" y="-7051"/>
                  <a:pt x="2375731" y="406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26" name="Straight Arrow Connector 25"/>
          <p:cNvCxnSpPr>
            <a:stCxn id="17" idx="3"/>
            <a:endCxn id="16" idx="2"/>
          </p:cNvCxnSpPr>
          <p:nvPr/>
        </p:nvCxnSpPr>
        <p:spPr>
          <a:xfrm flipV="1">
            <a:off x="6874544" y="3593502"/>
            <a:ext cx="82475" cy="2201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75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34" y="1238461"/>
            <a:ext cx="7547056" cy="448428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3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676" y="399943"/>
            <a:ext cx="7269480" cy="1325562"/>
          </a:xfrm>
        </p:spPr>
        <p:txBody>
          <a:bodyPr/>
          <a:lstStyle/>
          <a:p>
            <a:r>
              <a:rPr lang="en-US" dirty="0" smtClean="0"/>
              <a:t>Structural Equation Models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11" y="2129096"/>
            <a:ext cx="7371610" cy="351647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6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38" y="511039"/>
            <a:ext cx="7269480" cy="1325562"/>
          </a:xfrm>
        </p:spPr>
        <p:txBody>
          <a:bodyPr/>
          <a:lstStyle/>
          <a:p>
            <a:r>
              <a:rPr lang="en-US" dirty="0" smtClean="0"/>
              <a:t>Structural Equation Models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44" y="2096759"/>
            <a:ext cx="7319869" cy="356055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4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368" y="1310167"/>
            <a:ext cx="7696909" cy="435133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3909" y="6172201"/>
            <a:ext cx="1928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Cardiz</a:t>
            </a:r>
            <a:r>
              <a:rPr lang="en-US" sz="1400" dirty="0" smtClean="0"/>
              <a:t> et al. / </a:t>
            </a:r>
            <a:r>
              <a:rPr lang="en-US" sz="1200" dirty="0" smtClean="0"/>
              <a:t>MLSS</a:t>
            </a:r>
            <a:r>
              <a:rPr lang="en-US" sz="1400" dirty="0" smtClean="0"/>
              <a:t> </a:t>
            </a:r>
            <a:r>
              <a:rPr lang="en-US" sz="1200" dirty="0" smtClean="0"/>
              <a:t>2017</a:t>
            </a:r>
            <a:endParaRPr lang="en-US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9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076" y="308505"/>
            <a:ext cx="7269480" cy="1325562"/>
          </a:xfrm>
        </p:spPr>
        <p:txBody>
          <a:bodyPr/>
          <a:lstStyle/>
          <a:p>
            <a:pPr rtl="0"/>
            <a:r>
              <a:rPr lang="en-US" dirty="0" smtClean="0"/>
              <a:t>d-separation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3556" y="1982689"/>
                <a:ext cx="6446520" cy="4351337"/>
              </a:xfrm>
            </p:spPr>
            <p:txBody>
              <a:bodyPr/>
              <a:lstStyle/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are d-separated by the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 if all paths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are blocked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. </a:t>
                </a:r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3556" y="1982689"/>
                <a:ext cx="6446520" cy="4351337"/>
              </a:xfrm>
              <a:blipFill rotWithShape="0">
                <a:blip r:embed="rId2"/>
                <a:stretch>
                  <a:fillRect l="-189" t="-1120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11" name="Content Placehold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850" y="3275687"/>
            <a:ext cx="5683932" cy="12548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2390" y="6180138"/>
            <a:ext cx="1928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Cardiz</a:t>
            </a:r>
            <a:r>
              <a:rPr lang="en-US" sz="1400" dirty="0" smtClean="0"/>
              <a:t> et al. / </a:t>
            </a:r>
            <a:r>
              <a:rPr lang="en-US" sz="1200" dirty="0" smtClean="0"/>
              <a:t>MLSS</a:t>
            </a:r>
            <a:r>
              <a:rPr lang="en-US" sz="1400" dirty="0" smtClean="0"/>
              <a:t> </a:t>
            </a:r>
            <a:r>
              <a:rPr lang="en-US" sz="1200" dirty="0" smtClean="0"/>
              <a:t>2017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62199"/>
            <a:ext cx="7269480" cy="1325562"/>
          </a:xfrm>
        </p:spPr>
        <p:txBody>
          <a:bodyPr>
            <a:normAutofit/>
          </a:bodyPr>
          <a:lstStyle/>
          <a:p>
            <a:r>
              <a:rPr lang="en-US" sz="3200" dirty="0"/>
              <a:t>Markov </a:t>
            </a:r>
            <a:r>
              <a:rPr lang="en-US" sz="3200" dirty="0" smtClean="0"/>
              <a:t>Property </a:t>
            </a:r>
            <a:r>
              <a:rPr lang="en-US" sz="3200" dirty="0"/>
              <a:t>and Faithfulness</a:t>
            </a:r>
            <a:endParaRPr lang="fa-I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6404" y="1828802"/>
                <a:ext cx="6446520" cy="4351337"/>
              </a:xfrm>
            </p:spPr>
            <p:txBody>
              <a:bodyPr/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dirty="0" smtClean="0"/>
                  <a:t> is Markov with respect to the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, if</a:t>
                </a:r>
              </a:p>
              <a:p>
                <a:pPr marL="0" indent="0" algn="ctr" rtl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 smtClean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are d-separated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⫫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b="0" dirty="0" smtClean="0"/>
              </a:p>
              <a:p>
                <a:pPr marL="0" indent="0" algn="ctr" rtl="0">
                  <a:buNone/>
                </a:pPr>
                <a:endParaRPr lang="en-US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 smtClean="0"/>
                  <a:t>Faithful </a:t>
                </a:r>
                <a:r>
                  <a:rPr lang="en-US" dirty="0"/>
                  <a:t>with respect to the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 if</a:t>
                </a:r>
              </a:p>
              <a:p>
                <a:pPr marL="0" indent="0" algn="ctr" rtl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are d-separated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⟸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⫫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marL="0" indent="0" algn="ctr" rtl="0">
                  <a:buNone/>
                </a:pPr>
                <a:endParaRPr lang="en-US" b="0" dirty="0" smtClean="0"/>
              </a:p>
              <a:p>
                <a:pPr marL="0" indent="0" algn="l" rtl="0">
                  <a:buNone/>
                </a:pPr>
                <a:endParaRPr lang="en-US" b="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4" y="1828802"/>
                <a:ext cx="6446520" cy="4351337"/>
              </a:xfrm>
              <a:blipFill rotWithShape="0">
                <a:blip r:embed="rId2"/>
                <a:stretch>
                  <a:fillRect l="-189" t="-1120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818" y="4519535"/>
            <a:ext cx="2539205" cy="16606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360" y="4788199"/>
            <a:ext cx="2417303" cy="11169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6107" y="6321178"/>
            <a:ext cx="2012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Cardiz</a:t>
            </a:r>
            <a:r>
              <a:rPr lang="en-US" sz="1200" dirty="0" smtClean="0"/>
              <a:t> et al. / MLSS 2017</a:t>
            </a:r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3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50" y="277734"/>
            <a:ext cx="7269480" cy="1325562"/>
          </a:xfrm>
        </p:spPr>
        <p:txBody>
          <a:bodyPr/>
          <a:lstStyle/>
          <a:p>
            <a:r>
              <a:rPr lang="en-US" dirty="0" smtClean="0"/>
              <a:t>Markov Equivalent Classes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4298" y="1820864"/>
            <a:ext cx="6308646" cy="4351337"/>
          </a:xfrm>
        </p:spPr>
        <p:txBody>
          <a:bodyPr>
            <a:noAutofit/>
          </a:bodyPr>
          <a:lstStyle/>
          <a:p>
            <a:pPr algn="l" rtl="0"/>
            <a:r>
              <a:rPr lang="en-US" sz="1600" b="1" dirty="0" smtClean="0">
                <a:cs typeface="+mj-cs"/>
              </a:rPr>
              <a:t>Definition. </a:t>
            </a:r>
            <a:r>
              <a:rPr lang="en-US" sz="1600" dirty="0" smtClean="0">
                <a:cs typeface="+mj-cs"/>
              </a:rPr>
              <a:t>Markov Equivalence Class</a:t>
            </a:r>
          </a:p>
          <a:p>
            <a:pPr algn="l" rtl="0"/>
            <a:endParaRPr lang="en-US" sz="1600" dirty="0" smtClean="0">
              <a:cs typeface="+mj-cs"/>
            </a:endParaRPr>
          </a:p>
          <a:p>
            <a:pPr algn="l" rtl="0"/>
            <a:endParaRPr lang="en-US" sz="1600" dirty="0">
              <a:cs typeface="+mj-cs"/>
            </a:endParaRPr>
          </a:p>
          <a:p>
            <a:pPr algn="l" rtl="0"/>
            <a:endParaRPr lang="en-US" sz="1600" dirty="0" smtClean="0">
              <a:cs typeface="+mj-cs"/>
            </a:endParaRPr>
          </a:p>
          <a:p>
            <a:pPr algn="l" rtl="0"/>
            <a:endParaRPr lang="en-US" sz="1600" dirty="0" smtClean="0">
              <a:cs typeface="+mj-cs"/>
            </a:endParaRPr>
          </a:p>
          <a:p>
            <a:pPr algn="l" rtl="0"/>
            <a:r>
              <a:rPr lang="en-US" sz="1600" b="1" dirty="0" smtClean="0">
                <a:cs typeface="+mj-cs"/>
              </a:rPr>
              <a:t>Theorem</a:t>
            </a:r>
            <a:r>
              <a:rPr lang="en-US" sz="1600" dirty="0" smtClean="0">
                <a:cs typeface="+mj-cs"/>
              </a:rPr>
              <a:t> </a:t>
            </a:r>
            <a:r>
              <a:rPr lang="en-US" sz="1600" dirty="0">
                <a:cs typeface="+mj-cs"/>
              </a:rPr>
              <a:t>(</a:t>
            </a:r>
            <a:r>
              <a:rPr lang="en-US" sz="1600" dirty="0" err="1">
                <a:cs typeface="+mj-cs"/>
              </a:rPr>
              <a:t>Verma</a:t>
            </a:r>
            <a:r>
              <a:rPr lang="en-US" sz="1600" dirty="0">
                <a:cs typeface="+mj-cs"/>
              </a:rPr>
              <a:t> and Pearl, 1990</a:t>
            </a:r>
            <a:r>
              <a:rPr lang="en-US" sz="1600" dirty="0" smtClean="0">
                <a:cs typeface="+mj-cs"/>
              </a:rPr>
              <a:t>). </a:t>
            </a:r>
            <a:r>
              <a:rPr lang="en-US" sz="1600" dirty="0">
                <a:cs typeface="+mj-cs"/>
              </a:rPr>
              <a:t>two DAGs are Markov equivalent </a:t>
            </a:r>
            <a:r>
              <a:rPr lang="en-US" sz="1600" dirty="0" smtClean="0">
                <a:cs typeface="+mj-cs"/>
              </a:rPr>
              <a:t>if </a:t>
            </a:r>
            <a:r>
              <a:rPr lang="en-US" sz="1600" dirty="0">
                <a:cs typeface="+mj-cs"/>
              </a:rPr>
              <a:t>they have the same skeleton and the same </a:t>
            </a:r>
            <a:r>
              <a:rPr lang="en-US" sz="1600" i="1" dirty="0" smtClean="0">
                <a:cs typeface="+mj-cs"/>
              </a:rPr>
              <a:t>v-structures</a:t>
            </a:r>
            <a:r>
              <a:rPr lang="en-US" sz="1600" dirty="0" smtClean="0">
                <a:cs typeface="+mj-cs"/>
              </a:rPr>
              <a:t>.</a:t>
            </a:r>
            <a:endParaRPr lang="en-US" sz="1600" dirty="0">
              <a:cs typeface="+mj-cs"/>
            </a:endParaRPr>
          </a:p>
          <a:p>
            <a:pPr algn="l" rtl="0"/>
            <a:endParaRPr lang="fa-IR" sz="1600" dirty="0">
              <a:cs typeface="+mj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436" y="2228806"/>
            <a:ext cx="5819508" cy="10983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9506" y="1935767"/>
            <a:ext cx="84324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/>
              <a:t>CPDAG</a:t>
            </a:r>
            <a:endParaRPr lang="fa-IR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5428527" y="1727421"/>
            <a:ext cx="14604" cy="1976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Content Placeholder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159" y="4782760"/>
            <a:ext cx="4823400" cy="1064907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8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dirty="0" smtClean="0"/>
              <a:t>Causal Learning Algorithms and Neuroimaging!</a:t>
            </a:r>
            <a:endParaRPr lang="fa-IR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21" y="1429308"/>
            <a:ext cx="7263925" cy="246351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9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481" y="357214"/>
            <a:ext cx="7269480" cy="13255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Two families of  learning algorithms</a:t>
            </a:r>
            <a:endParaRPr lang="fa-IR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64079" y="1879545"/>
            <a:ext cx="8714766" cy="448942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426" y="229845"/>
            <a:ext cx="7269480" cy="1325562"/>
          </a:xfrm>
        </p:spPr>
        <p:txBody>
          <a:bodyPr/>
          <a:lstStyle/>
          <a:p>
            <a:r>
              <a:rPr lang="en-US" dirty="0" smtClean="0"/>
              <a:t>PC Algorithm</a:t>
            </a:r>
            <a:endParaRPr lang="fa-IR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067" y="2858801"/>
            <a:ext cx="5940202" cy="34991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94642" y="1745439"/>
                <a:ext cx="671504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Theorem</a:t>
                </a:r>
                <a:r>
                  <a:rPr lang="en-US" b="1" dirty="0" smtClean="0"/>
                  <a:t>.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are linked by an edge </a:t>
                </a:r>
                <a:r>
                  <a:rPr lang="en-US" b="1" dirty="0" err="1"/>
                  <a:t>iff</a:t>
                </a:r>
                <a:r>
                  <a:rPr lang="en-US" dirty="0"/>
                  <a:t> there is  </a:t>
                </a:r>
                <a:r>
                  <a:rPr lang="en-US" b="1" dirty="0"/>
                  <a:t>no</a:t>
                </a:r>
                <a:r>
                  <a:rPr lang="en-US" dirty="0"/>
                  <a:t>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en-US" dirty="0"/>
                  <a:t> such </a:t>
                </a:r>
                <a:r>
                  <a:rPr lang="en-US" dirty="0" smtClean="0"/>
                  <a:t>that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⫫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</m:oMath>
                  </m:oMathPara>
                </a14:m>
                <a:endParaRPr lang="fa-IR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642" y="1745439"/>
                <a:ext cx="6715049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817" t="-3289" b="-5921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9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25" y="365760"/>
            <a:ext cx="7269480" cy="1325562"/>
          </a:xfrm>
        </p:spPr>
        <p:txBody>
          <a:bodyPr/>
          <a:lstStyle/>
          <a:p>
            <a:r>
              <a:rPr lang="en-US" dirty="0" smtClean="0"/>
              <a:t>The Problem!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198" y="1885361"/>
            <a:ext cx="7665275" cy="303387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15455" y="2253734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455" y="4430373"/>
            <a:ext cx="4790150" cy="236754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0198" y="6019800"/>
            <a:ext cx="4927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1)   What about confounders?!   </a:t>
            </a:r>
          </a:p>
          <a:p>
            <a:r>
              <a:rPr lang="en-US" sz="1400" b="1" dirty="0" smtClean="0"/>
              <a:t>2)   Conditional Independence Tests are very Hard.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4255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48668"/>
            <a:ext cx="7269480" cy="1325562"/>
          </a:xfrm>
        </p:spPr>
        <p:txBody>
          <a:bodyPr/>
          <a:lstStyle/>
          <a:p>
            <a:r>
              <a:rPr lang="en-US" dirty="0" smtClean="0"/>
              <a:t>PC and Neuroimaging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Font typeface="Courier New" panose="02070309020205020404" pitchFamily="49" charset="0"/>
              <a:buChar char="o"/>
            </a:pPr>
            <a:r>
              <a:rPr lang="en-US" b="1" dirty="0" smtClean="0"/>
              <a:t>Does </a:t>
            </a:r>
            <a:r>
              <a:rPr lang="en-US" b="1" dirty="0"/>
              <a:t>not </a:t>
            </a:r>
            <a:r>
              <a:rPr lang="en-US" b="1" dirty="0" smtClean="0"/>
              <a:t>include temporal dependencies</a:t>
            </a:r>
          </a:p>
          <a:p>
            <a:pPr marL="0" indent="0" algn="l" rtl="0">
              <a:buNone/>
            </a:pPr>
            <a:r>
              <a:rPr lang="en-US" dirty="0" smtClean="0"/>
              <a:t>	Diffusion </a:t>
            </a:r>
            <a:r>
              <a:rPr lang="en-US" dirty="0"/>
              <a:t>T</a:t>
            </a:r>
            <a:r>
              <a:rPr lang="en-US" dirty="0" smtClean="0"/>
              <a:t>ensor </a:t>
            </a:r>
            <a:r>
              <a:rPr lang="en-US" dirty="0"/>
              <a:t>I</a:t>
            </a:r>
            <a:r>
              <a:rPr lang="en-US" dirty="0" smtClean="0"/>
              <a:t>maging </a:t>
            </a:r>
            <a:r>
              <a:rPr lang="en-US" dirty="0"/>
              <a:t>(DTI</a:t>
            </a:r>
            <a:r>
              <a:rPr lang="en-US" dirty="0" smtClean="0"/>
              <a:t>)</a:t>
            </a:r>
          </a:p>
          <a:p>
            <a:pPr algn="l" rtl="0">
              <a:buFont typeface="Courier New" panose="02070309020205020404" pitchFamily="49" charset="0"/>
              <a:buChar char="o"/>
            </a:pPr>
            <a:endParaRPr lang="en-US" dirty="0"/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b="1" dirty="0"/>
              <a:t>C</a:t>
            </a:r>
            <a:r>
              <a:rPr lang="en-US" b="1" dirty="0" smtClean="0"/>
              <a:t>onsistency</a:t>
            </a:r>
            <a:r>
              <a:rPr lang="en-US" dirty="0" smtClean="0"/>
              <a:t> </a:t>
            </a:r>
            <a:r>
              <a:rPr lang="en-US" dirty="0"/>
              <a:t>between subjects in patterns of edges obtained from GES </a:t>
            </a:r>
            <a:r>
              <a:rPr lang="en-US" dirty="0" smtClean="0"/>
              <a:t>   and </a:t>
            </a:r>
            <a:r>
              <a:rPr lang="en-US" dirty="0"/>
              <a:t>PC (Sun et al. 2012). </a:t>
            </a:r>
            <a:endParaRPr lang="en-US" dirty="0" smtClean="0"/>
          </a:p>
          <a:p>
            <a:pPr algn="l" rtl="0"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dirty="0" smtClean="0"/>
              <a:t>The </a:t>
            </a:r>
            <a:r>
              <a:rPr lang="en-US" dirty="0"/>
              <a:t>use of PC for fMRI data to determine the </a:t>
            </a:r>
            <a:r>
              <a:rPr lang="en-US" b="1" dirty="0" smtClean="0"/>
              <a:t>presence </a:t>
            </a:r>
            <a:r>
              <a:rPr lang="en-US" b="1" dirty="0"/>
              <a:t>of edges </a:t>
            </a:r>
            <a:r>
              <a:rPr lang="en-US" dirty="0"/>
              <a:t>has been </a:t>
            </a:r>
            <a:r>
              <a:rPr lang="en-US" dirty="0" smtClean="0"/>
              <a:t>promising.</a:t>
            </a:r>
            <a:endParaRPr lang="fa-I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1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653" y="246119"/>
            <a:ext cx="7269480" cy="1325562"/>
          </a:xfrm>
        </p:spPr>
        <p:txBody>
          <a:bodyPr/>
          <a:lstStyle/>
          <a:p>
            <a:r>
              <a:rPr lang="en-US" dirty="0" smtClean="0"/>
              <a:t>Greedy Search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89133" y="1820864"/>
                <a:ext cx="6446520" cy="4351337"/>
              </a:xfrm>
            </p:spPr>
            <p:txBody>
              <a:bodyPr>
                <a:normAutofit/>
              </a:bodyPr>
              <a:lstStyle/>
              <a:p>
                <a:pPr algn="just" rtl="0"/>
                <a:r>
                  <a:rPr lang="en-US" dirty="0" smtClean="0"/>
                  <a:t>For each graph we may consider the maximum likelihood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and then define a score function by the </a:t>
                </a:r>
                <a:r>
                  <a:rPr lang="en-US" dirty="0" smtClean="0"/>
                  <a:t>BIC</a:t>
                </a:r>
              </a:p>
              <a:p>
                <a:pPr algn="l" rtl="0"/>
                <a:endParaRPr lang="en-US" dirty="0" smtClean="0"/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Data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Data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𝑝𝑎𝑟𝑎𝑚𝑠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133" y="1820864"/>
                <a:ext cx="6446520" cy="4351337"/>
              </a:xfrm>
              <a:blipFill rotWithShape="0">
                <a:blip r:embed="rId2"/>
                <a:stretch>
                  <a:fillRect l="-189" t="-1120" r="-756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97" y="271041"/>
            <a:ext cx="7269480" cy="1325562"/>
          </a:xfrm>
        </p:spPr>
        <p:txBody>
          <a:bodyPr/>
          <a:lstStyle/>
          <a:p>
            <a:r>
              <a:rPr lang="en-US" dirty="0" smtClean="0"/>
              <a:t>Greedy Search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23277" y="1820864"/>
                <a:ext cx="6446520" cy="4351337"/>
              </a:xfrm>
            </p:spPr>
            <p:txBody>
              <a:bodyPr>
                <a:normAutofit/>
              </a:bodyPr>
              <a:lstStyle/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Data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Data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𝑝𝑎𝑟𝑎𝑚𝑠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 smtClean="0"/>
              </a:p>
              <a:p>
                <a:pPr marL="0" indent="0" algn="ctr" rtl="0">
                  <a:buNone/>
                </a:pPr>
                <a:endParaRPr lang="en-US" b="0" dirty="0" smtClean="0"/>
              </a:p>
              <a:p>
                <a:pPr marL="0" indent="0" algn="l" rtl="0">
                  <a:buNone/>
                </a:pPr>
                <a:r>
                  <a:rPr lang="en-US" sz="2400" dirty="0" smtClean="0"/>
                  <a:t>The </a:t>
                </a:r>
                <a:r>
                  <a:rPr lang="en-US" sz="2400" i="1" dirty="0" smtClean="0"/>
                  <a:t>greedy equivalence search</a:t>
                </a:r>
                <a:r>
                  <a:rPr lang="en-US" sz="2400" dirty="0" smtClean="0"/>
                  <a:t> (GES starts with the empty graph:</a:t>
                </a:r>
              </a:p>
              <a:p>
                <a:pPr algn="l" rtl="0"/>
                <a:r>
                  <a:rPr lang="en-US" sz="2400" b="1" dirty="0" smtClean="0"/>
                  <a:t>Phase 1:</a:t>
                </a:r>
                <a:r>
                  <a:rPr lang="en-US" sz="2400" dirty="0" smtClean="0"/>
                  <a:t> </a:t>
                </a:r>
                <a:r>
                  <a:rPr lang="en-US" dirty="0" smtClean="0"/>
                  <a:t>edges are </a:t>
                </a:r>
                <a:r>
                  <a:rPr lang="en-US" b="1" dirty="0" smtClean="0"/>
                  <a:t>added</a:t>
                </a:r>
                <a:r>
                  <a:rPr lang="en-US" dirty="0" smtClean="0"/>
                  <a:t> until a local maximum is reached</a:t>
                </a:r>
              </a:p>
              <a:p>
                <a:pPr algn="l" rtl="0"/>
                <a:r>
                  <a:rPr lang="en-US" sz="2400" b="1" dirty="0" smtClean="0"/>
                  <a:t>Phase 2:</a:t>
                </a:r>
                <a:r>
                  <a:rPr lang="en-US" sz="2400" dirty="0" smtClean="0"/>
                  <a:t> </a:t>
                </a:r>
                <a:r>
                  <a:rPr lang="en-US" dirty="0" smtClean="0"/>
                  <a:t>edges are </a:t>
                </a:r>
                <a:r>
                  <a:rPr lang="en-US" b="1" dirty="0" smtClean="0"/>
                  <a:t>removed</a:t>
                </a:r>
                <a:r>
                  <a:rPr lang="en-US" dirty="0" smtClean="0"/>
                  <a:t> until a local maximum is reached</a:t>
                </a:r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3277" y="1820864"/>
                <a:ext cx="6446520" cy="4351337"/>
              </a:xfrm>
              <a:blipFill rotWithShape="0">
                <a:blip r:embed="rId2"/>
                <a:stretch>
                  <a:fillRect l="-1514" r="-378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4304" y="6317617"/>
            <a:ext cx="5153783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 err="1"/>
              <a:t>Chickering</a:t>
            </a:r>
            <a:r>
              <a:rPr lang="en-US" sz="1200" dirty="0"/>
              <a:t> DM (2002) Optimal structure identification with greedy search. </a:t>
            </a:r>
            <a:r>
              <a:rPr lang="en-US" sz="1200" dirty="0" smtClean="0"/>
              <a:t>JMLR.</a:t>
            </a:r>
            <a:endParaRPr lang="fa-IR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023277" y="5499762"/>
            <a:ext cx="199791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err="1" smtClean="0"/>
              <a:t>Extention</a:t>
            </a:r>
            <a:r>
              <a:rPr lang="en-US" dirty="0" smtClean="0"/>
              <a:t>: </a:t>
            </a:r>
            <a:r>
              <a:rPr lang="en-US" dirty="0" err="1" smtClean="0"/>
              <a:t>IMaGES</a:t>
            </a:r>
            <a:r>
              <a:rPr lang="en-US" dirty="0" smtClean="0"/>
              <a:t>!</a:t>
            </a:r>
            <a:endParaRPr lang="fa-I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1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263211"/>
            <a:ext cx="7269480" cy="1325562"/>
          </a:xfrm>
        </p:spPr>
        <p:txBody>
          <a:bodyPr/>
          <a:lstStyle/>
          <a:p>
            <a:r>
              <a:rPr lang="en-US" dirty="0" smtClean="0"/>
              <a:t>GES in Neuroimaging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828801"/>
            <a:ext cx="6446520" cy="4351337"/>
          </a:xfrm>
        </p:spPr>
        <p:txBody>
          <a:bodyPr>
            <a:normAutofit/>
          </a:bodyPr>
          <a:lstStyle/>
          <a:p>
            <a:pPr algn="just" rtl="0">
              <a:buFont typeface="Courier New" panose="02070309020205020404" pitchFamily="49" charset="0"/>
              <a:buChar char="o"/>
            </a:pPr>
            <a:r>
              <a:rPr lang="en-US" sz="2000" dirty="0" smtClean="0"/>
              <a:t>GES </a:t>
            </a:r>
            <a:r>
              <a:rPr lang="en-US" sz="2000" dirty="0"/>
              <a:t>does </a:t>
            </a:r>
            <a:r>
              <a:rPr lang="en-US" sz="2000" dirty="0" smtClean="0"/>
              <a:t>not include </a:t>
            </a:r>
            <a:r>
              <a:rPr lang="en-US" sz="2000" dirty="0"/>
              <a:t>temporal </a:t>
            </a:r>
            <a:r>
              <a:rPr lang="en-US" sz="2000" dirty="0" smtClean="0"/>
              <a:t>information.</a:t>
            </a:r>
          </a:p>
          <a:p>
            <a:pPr marL="0" indent="0" algn="just" rtl="0">
              <a:buNone/>
            </a:pPr>
            <a:endParaRPr lang="en-US" dirty="0" smtClean="0"/>
          </a:p>
          <a:p>
            <a:pPr algn="just" rtl="0">
              <a:buFont typeface="Courier New" panose="02070309020205020404" pitchFamily="49" charset="0"/>
              <a:buChar char="o"/>
            </a:pPr>
            <a:r>
              <a:rPr lang="en-US" sz="2000" dirty="0" smtClean="0"/>
              <a:t> </a:t>
            </a:r>
            <a:r>
              <a:rPr lang="en-US" sz="2000" dirty="0"/>
              <a:t>However, to date, the GES algorithm has only been applied on fMRI </a:t>
            </a:r>
            <a:r>
              <a:rPr lang="en-US" sz="2000" dirty="0" smtClean="0"/>
              <a:t>data!  A lot!</a:t>
            </a:r>
          </a:p>
          <a:p>
            <a:pPr marL="0" indent="0" algn="just" rtl="0">
              <a:buNone/>
            </a:pPr>
            <a:endParaRPr lang="en-US" dirty="0" smtClean="0"/>
          </a:p>
          <a:p>
            <a:pPr algn="just" rtl="0">
              <a:buFont typeface="Courier New" panose="02070309020205020404" pitchFamily="49" charset="0"/>
              <a:buChar char="o"/>
            </a:pPr>
            <a:r>
              <a:rPr lang="en-US" sz="2000" dirty="0" smtClean="0"/>
              <a:t>Differences </a:t>
            </a:r>
            <a:r>
              <a:rPr lang="en-US" sz="2000" dirty="0"/>
              <a:t>in brain processes among individuals diagnosed with Autism spectrum disorder (Hanson et al. 2013</a:t>
            </a:r>
            <a:r>
              <a:rPr lang="en-US" sz="2000" dirty="0" smtClean="0"/>
              <a:t>).</a:t>
            </a:r>
            <a:endParaRPr lang="fa-IR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0575" y="6180138"/>
            <a:ext cx="6180987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Hanson C, Hanson SJ, Ramsey J, </a:t>
            </a:r>
            <a:r>
              <a:rPr lang="en-US" sz="1200" dirty="0" err="1"/>
              <a:t>Glymour</a:t>
            </a:r>
            <a:r>
              <a:rPr lang="en-US" sz="1200" dirty="0"/>
              <a:t> C (2013) </a:t>
            </a:r>
            <a:endParaRPr lang="en-US" sz="1200" dirty="0" smtClean="0"/>
          </a:p>
          <a:p>
            <a:r>
              <a:rPr lang="en-US" sz="1200" dirty="0" smtClean="0"/>
              <a:t>Atypical </a:t>
            </a:r>
            <a:r>
              <a:rPr lang="en-US" sz="1200" dirty="0"/>
              <a:t>effective connectivity of social brain networks in individuals with autism. Brain </a:t>
            </a:r>
            <a:r>
              <a:rPr lang="en-US" sz="1200" dirty="0" smtClean="0"/>
              <a:t>Connect.</a:t>
            </a:r>
            <a:endParaRPr lang="fa-IR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5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396" y="263211"/>
            <a:ext cx="7269480" cy="1325562"/>
          </a:xfrm>
        </p:spPr>
        <p:txBody>
          <a:bodyPr/>
          <a:lstStyle/>
          <a:p>
            <a:r>
              <a:rPr lang="en-US" dirty="0" smtClean="0"/>
              <a:t>GES in Neuroimaging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5514" y="2053431"/>
            <a:ext cx="6446520" cy="4351337"/>
          </a:xfrm>
        </p:spPr>
        <p:txBody>
          <a:bodyPr/>
          <a:lstStyle/>
          <a:p>
            <a:pPr algn="just" rtl="0">
              <a:buFont typeface="Courier New" panose="02070309020205020404" pitchFamily="49" charset="0"/>
              <a:buChar char="o"/>
            </a:pPr>
            <a:r>
              <a:rPr lang="en-US" sz="2000" dirty="0"/>
              <a:t>Results for lengths of time series typically seen in fMRI might be unreliable (Mumford and Ramsey 2014</a:t>
            </a:r>
            <a:r>
              <a:rPr lang="en-US" sz="2000" dirty="0" smtClean="0"/>
              <a:t>).</a:t>
            </a:r>
          </a:p>
          <a:p>
            <a:pPr algn="just" rtl="0"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algn="just" rtl="0">
              <a:buFont typeface="Courier New" panose="02070309020205020404" pitchFamily="49" charset="0"/>
              <a:buChar char="o"/>
            </a:pPr>
            <a:r>
              <a:rPr lang="en-US" sz="2000" dirty="0" smtClean="0"/>
              <a:t>BIC </a:t>
            </a:r>
            <a:r>
              <a:rPr lang="en-US" sz="2000" dirty="0"/>
              <a:t>typically assumes a linear Gaussian </a:t>
            </a:r>
            <a:r>
              <a:rPr lang="en-US" sz="2000" dirty="0" smtClean="0"/>
              <a:t>likelihood. The </a:t>
            </a:r>
            <a:r>
              <a:rPr lang="en-US" sz="2000" dirty="0"/>
              <a:t>consistency of selection methods using BIC is not guaranteed when the data are </a:t>
            </a:r>
            <a:r>
              <a:rPr lang="en-US" sz="2000" dirty="0" smtClean="0"/>
              <a:t>non-normally </a:t>
            </a:r>
            <a:r>
              <a:rPr lang="en-US" sz="2000" dirty="0"/>
              <a:t>distributed.</a:t>
            </a:r>
            <a:endParaRPr lang="fa-IR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0198" y="6317617"/>
            <a:ext cx="5316455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Mumford JA, Ramsey JD (2014) Bayesian networks for fMRI: a primer. </a:t>
            </a:r>
            <a:r>
              <a:rPr lang="en-US" sz="1200" dirty="0" err="1" smtClean="0"/>
              <a:t>NeuroImage</a:t>
            </a:r>
            <a:r>
              <a:rPr lang="en-US" sz="1200" dirty="0" smtClean="0"/>
              <a:t>.</a:t>
            </a:r>
            <a:endParaRPr lang="fa-IR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65760"/>
            <a:ext cx="7269480" cy="1325562"/>
          </a:xfrm>
        </p:spPr>
        <p:txBody>
          <a:bodyPr/>
          <a:lstStyle/>
          <a:p>
            <a:r>
              <a:rPr lang="en-US" dirty="0" err="1" smtClean="0"/>
              <a:t>LiNGAM</a:t>
            </a:r>
            <a:r>
              <a:rPr lang="en-US" dirty="0" smtClean="0"/>
              <a:t> </a:t>
            </a:r>
            <a:r>
              <a:rPr lang="en-US" sz="2000" dirty="0" smtClean="0"/>
              <a:t>(Linear Non-Gaussian Acyclic Models)</a:t>
            </a:r>
            <a:endParaRPr lang="fa-IR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6404" y="1897168"/>
                <a:ext cx="6446520" cy="4351337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en-US" sz="1800" b="1" dirty="0" smtClean="0"/>
                  <a:t>LiNGAM:</a:t>
                </a:r>
                <a:r>
                  <a:rPr lang="en-US" sz="1800" dirty="0" smtClean="0"/>
                  <a:t> The SEM of the form </a:t>
                </a:r>
              </a:p>
              <a:p>
                <a:pPr marL="0" indent="0" algn="ctr" rtl="0">
                  <a:buNone/>
                </a:pPr>
                <a:endParaRPr lang="en-US" sz="1800" b="1" i="0" dirty="0" smtClean="0">
                  <a:latin typeface="Cambria Math" panose="02040503050406030204" pitchFamily="18" charset="0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𝐁𝐗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800" dirty="0" smtClean="0"/>
              </a:p>
              <a:p>
                <a:pPr algn="just" rtl="0"/>
                <a:r>
                  <a:rPr lang="en-US" sz="18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800" dirty="0" smtClean="0"/>
                  <a:t> is a vector consisting non-Gaussian random variables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dirty="0" smtClean="0"/>
                  <a:t> is a square matrix that can be permuted to a strictly Lower Triangular matrix (not loops).</a:t>
                </a:r>
              </a:p>
              <a:p>
                <a:pPr algn="just" rtl="0"/>
                <a14:m>
                  <m:oMath xmlns:m="http://schemas.openxmlformats.org/officeDocument/2006/math">
                    <m:r>
                      <a:rPr lang="en-US" sz="1800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>
                        <a:latin typeface="Cambria Math" panose="02040503050406030204" pitchFamily="18" charset="0"/>
                      </a:rPr>
                      <m:t>𝐁𝐗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  →   </m:t>
                    </m:r>
                    <m:r>
                      <a:rPr lang="en-US" sz="1800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8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</a:rPr>
                  <a:t>   (identical to that of ICA</a:t>
                </a:r>
                <a:r>
                  <a:rPr lang="en-US" sz="1800" dirty="0" smtClean="0">
                    <a:latin typeface="Cambria Math" panose="02040503050406030204" pitchFamily="18" charset="0"/>
                  </a:rPr>
                  <a:t>!)</a:t>
                </a:r>
              </a:p>
              <a:p>
                <a:pPr marL="0" indent="0" algn="ctr" rtl="0">
                  <a:buNone/>
                </a:pPr>
                <a:r>
                  <a:rPr lang="en-US" dirty="0" smtClean="0">
                    <a:latin typeface="Cambria Math" panose="02040503050406030204" pitchFamily="18" charset="0"/>
                  </a:rPr>
                  <a:t>After recovering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US" b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dirty="0" smtClean="0">
                    <a:latin typeface="Cambria Math" panose="02040503050406030204" pitchFamily="18" charset="0"/>
                  </a:rPr>
                  <a:t>using ICA (up to column permutation and scaling) we can recover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en-US" b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dirty="0" smtClean="0">
                    <a:latin typeface="Cambria Math" panose="02040503050406030204" pitchFamily="18" charset="0"/>
                  </a:rPr>
                  <a:t>efficiently.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algn="just" rtl="0"/>
                <a:endParaRPr lang="en-US" sz="1800" dirty="0" smtClean="0"/>
              </a:p>
              <a:p>
                <a:pPr algn="just" rtl="0"/>
                <a:endParaRPr lang="en-US" sz="1800" dirty="0"/>
              </a:p>
              <a:p>
                <a:pPr algn="just" rtl="0"/>
                <a:r>
                  <a:rPr lang="en-US" sz="1800" dirty="0" smtClean="0"/>
                  <a:t> </a:t>
                </a:r>
              </a:p>
              <a:p>
                <a:pPr algn="just" rtl="0"/>
                <a:endParaRPr lang="fa-IR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4" y="1897168"/>
                <a:ext cx="6446520" cy="4351337"/>
              </a:xfrm>
              <a:blipFill rotWithShape="0">
                <a:blip r:embed="rId2"/>
                <a:stretch>
                  <a:fillRect l="-189" t="-980" r="-756" b="-8263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9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104" y="297394"/>
            <a:ext cx="7269480" cy="1325562"/>
          </a:xfrm>
        </p:spPr>
        <p:txBody>
          <a:bodyPr/>
          <a:lstStyle/>
          <a:p>
            <a:pPr rtl="0"/>
            <a:r>
              <a:rPr lang="en-US" dirty="0" err="1" smtClean="0"/>
              <a:t>LiNGAM</a:t>
            </a:r>
            <a:r>
              <a:rPr lang="en-US" dirty="0"/>
              <a:t> </a:t>
            </a:r>
            <a:r>
              <a:rPr lang="en-US" dirty="0" smtClean="0"/>
              <a:t>in Neuroimaging	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311" y="1784924"/>
            <a:ext cx="7543801" cy="4888352"/>
          </a:xfrm>
        </p:spPr>
        <p:txBody>
          <a:bodyPr>
            <a:normAutofit lnSpcReduction="10000"/>
          </a:bodyPr>
          <a:lstStyle/>
          <a:p>
            <a:pPr algn="l" rtl="0">
              <a:buFont typeface="Courier New" panose="02070309020205020404" pitchFamily="49" charset="0"/>
              <a:buChar char="o"/>
            </a:pPr>
            <a:r>
              <a:rPr lang="en-US" i="0" dirty="0" smtClean="0">
                <a:latin typeface="Cambria Math" panose="02040503050406030204" pitchFamily="18" charset="0"/>
              </a:rPr>
              <a:t>A considerable amount of literature discussing the use of </a:t>
            </a:r>
            <a:r>
              <a:rPr lang="en-US" i="0" dirty="0" err="1" smtClean="0">
                <a:latin typeface="Cambria Math" panose="02040503050406030204" pitchFamily="18" charset="0"/>
              </a:rPr>
              <a:t>LiNGAM</a:t>
            </a:r>
            <a:r>
              <a:rPr lang="en-US" i="0" dirty="0" smtClean="0">
                <a:latin typeface="Cambria Math" panose="02040503050406030204" pitchFamily="18" charset="0"/>
              </a:rPr>
              <a:t>. </a:t>
            </a:r>
            <a:endParaRPr lang="en-US" dirty="0">
              <a:latin typeface="Cambria Math" panose="02040503050406030204" pitchFamily="18" charset="0"/>
            </a:endParaRP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i="0" dirty="0" smtClean="0">
                <a:latin typeface="Cambria Math" panose="02040503050406030204" pitchFamily="18" charset="0"/>
              </a:rPr>
              <a:t>Considerably less literature using </a:t>
            </a:r>
            <a:r>
              <a:rPr lang="en-US" i="0" dirty="0" err="1" smtClean="0">
                <a:latin typeface="Cambria Math" panose="02040503050406030204" pitchFamily="18" charset="0"/>
              </a:rPr>
              <a:t>LiNGAM</a:t>
            </a:r>
            <a:r>
              <a:rPr lang="en-US" i="0" dirty="0" smtClean="0">
                <a:latin typeface="Cambria Math" panose="02040503050406030204" pitchFamily="18" charset="0"/>
              </a:rPr>
              <a:t>!</a:t>
            </a: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dirty="0" smtClean="0"/>
              <a:t>Liu et al. (2015) uses </a:t>
            </a:r>
            <a:r>
              <a:rPr lang="en-US" dirty="0" err="1" smtClean="0"/>
              <a:t>LiNGAM</a:t>
            </a:r>
            <a:r>
              <a:rPr lang="en-US" dirty="0" smtClean="0"/>
              <a:t> to identify connectivity differences with bipolar disorder and major depressive disorder and showed differences.</a:t>
            </a:r>
            <a:endParaRPr lang="en-US" dirty="0"/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b="1" dirty="0" smtClean="0"/>
              <a:t>fMRI is non-Gaussian (Rice Distribution). </a:t>
            </a: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b="1" dirty="0" smtClean="0"/>
              <a:t>Preprocessing and filtering is an issue.</a:t>
            </a:r>
          </a:p>
          <a:p>
            <a:pPr marL="0" indent="0" algn="just" rtl="0">
              <a:buNone/>
            </a:pPr>
            <a:endParaRPr lang="en-US" dirty="0" smtClean="0"/>
          </a:p>
          <a:p>
            <a:pPr marL="0" indent="0" algn="just" rtl="0">
              <a:buNone/>
            </a:pPr>
            <a:endParaRPr lang="en-US" dirty="0" smtClean="0"/>
          </a:p>
          <a:p>
            <a:pPr marL="0" indent="0" algn="just" rtl="0">
              <a:buNone/>
            </a:pPr>
            <a:endParaRPr lang="en-US" dirty="0"/>
          </a:p>
          <a:p>
            <a:pPr marL="0" indent="0" algn="just" rtl="0">
              <a:buNone/>
            </a:pPr>
            <a:r>
              <a:rPr lang="en-US" sz="1200" dirty="0" smtClean="0"/>
              <a:t>Liu </a:t>
            </a:r>
            <a:r>
              <a:rPr lang="en-US" sz="1200" dirty="0"/>
              <a:t>et al. (2015) Altered effective connectivity between bipolar and unipolar depression based on resting-state fMRI. J Affect Disorder.</a:t>
            </a:r>
          </a:p>
          <a:p>
            <a:pPr marL="0" indent="0" algn="just" rtl="0">
              <a:buNone/>
            </a:pPr>
            <a:r>
              <a:rPr lang="en-US" dirty="0"/>
              <a:t> </a:t>
            </a:r>
          </a:p>
          <a:p>
            <a:pPr algn="l" rtl="0"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algn="just" rtl="0"/>
            <a:endParaRPr lang="fa-I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995" y="237573"/>
            <a:ext cx="7269480" cy="1325562"/>
          </a:xfrm>
        </p:spPr>
        <p:txBody>
          <a:bodyPr>
            <a:normAutofit/>
          </a:bodyPr>
          <a:lstStyle/>
          <a:p>
            <a:r>
              <a:rPr lang="en-US" sz="4000" dirty="0"/>
              <a:t>Additive Noise Models</a:t>
            </a:r>
            <a:endParaRPr lang="fa-I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9795" y="1820863"/>
                <a:ext cx="6849881" cy="4351338"/>
              </a:xfrm>
            </p:spPr>
            <p:txBody>
              <a:bodyPr/>
              <a:lstStyle/>
              <a:p>
                <a:pPr algn="l" rtl="0"/>
                <a:r>
                  <a:rPr lang="en-US" b="1" dirty="0" smtClean="0"/>
                  <a:t>Additive Noise Models:</a:t>
                </a:r>
              </a:p>
              <a:p>
                <a:pPr algn="l" rtl="0"/>
                <a:endParaRPr lang="en-US" b="1" dirty="0" smtClean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0" indent="0" algn="l" rtl="0">
                  <a:buNone/>
                </a:pPr>
                <a:r>
                  <a:rPr lang="en-US" b="1" i="1" u="sng" dirty="0" err="1" smtClean="0"/>
                  <a:t>Identifiability</a:t>
                </a:r>
                <a:r>
                  <a:rPr lang="en-US" dirty="0"/>
                  <a:t>: when is there a backward model of the same form? </a:t>
                </a:r>
                <a:endParaRPr lang="en-US" dirty="0" smtClean="0"/>
              </a:p>
              <a:p>
                <a:pPr marL="0" indent="0" algn="l" rtl="0">
                  <a:buNone/>
                </a:pPr>
                <a:r>
                  <a:rPr lang="en-US" b="1" i="1" u="sng" dirty="0" smtClean="0"/>
                  <a:t>Answer</a:t>
                </a:r>
                <a:r>
                  <a:rPr lang="en-US" dirty="0"/>
                  <a:t>: </a:t>
                </a:r>
                <a:r>
                  <a:rPr lang="en-US" i="1" dirty="0" smtClean="0"/>
                  <a:t>generically</a:t>
                </a:r>
                <a:r>
                  <a:rPr lang="en-US" dirty="0" smtClean="0"/>
                  <a:t>, </a:t>
                </a:r>
                <a:r>
                  <a:rPr lang="en-US" dirty="0"/>
                  <a:t>there is no </a:t>
                </a:r>
                <a:r>
                  <a:rPr lang="en-US" dirty="0" smtClean="0"/>
                  <a:t>backward model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⫫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795" y="1820863"/>
                <a:ext cx="6849881" cy="4351338"/>
              </a:xfrm>
              <a:blipFill rotWithShape="0">
                <a:blip r:embed="rId2"/>
                <a:stretch>
                  <a:fillRect l="-801" t="-1120" r="-89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851" y="2013773"/>
            <a:ext cx="1952180" cy="8492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9547" y="6019800"/>
            <a:ext cx="6748963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b="1" dirty="0"/>
              <a:t>Hoyer et al.: Nonlinear causal discovery with additive noise models. NIPS 21, </a:t>
            </a:r>
            <a:r>
              <a:rPr lang="en-US" sz="1200" b="1" dirty="0" smtClean="0"/>
              <a:t>2009</a:t>
            </a:r>
          </a:p>
          <a:p>
            <a:r>
              <a:rPr lang="en-US" sz="1200" dirty="0" smtClean="0"/>
              <a:t>Peters </a:t>
            </a:r>
            <a:r>
              <a:rPr lang="en-US" sz="1200" dirty="0"/>
              <a:t>et al: Causal Discovery with Continuous Additive Noise Models, JMLR </a:t>
            </a:r>
            <a:r>
              <a:rPr lang="en-US" sz="1200" dirty="0" smtClean="0"/>
              <a:t>2014</a:t>
            </a:r>
          </a:p>
          <a:p>
            <a:r>
              <a:rPr lang="en-US" sz="1200" dirty="0" smtClean="0"/>
              <a:t>Peters </a:t>
            </a:r>
            <a:r>
              <a:rPr lang="en-US" sz="1200" dirty="0"/>
              <a:t>et al.: Detecting the Direction of Causal Time Series. ICML 2009</a:t>
            </a:r>
            <a:endParaRPr lang="fa-IR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5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3" y="288848"/>
            <a:ext cx="7269480" cy="1325562"/>
          </a:xfrm>
        </p:spPr>
        <p:txBody>
          <a:bodyPr/>
          <a:lstStyle/>
          <a:p>
            <a:r>
              <a:rPr lang="en-US" dirty="0" smtClean="0"/>
              <a:t>Intuition 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6403" y="1820864"/>
                <a:ext cx="6446520" cy="4351337"/>
              </a:xfrm>
            </p:spPr>
            <p:txBody>
              <a:bodyPr/>
              <a:lstStyle/>
              <a:p>
                <a:pPr marL="0" indent="0" algn="l" rtl="0">
                  <a:buNone/>
                </a:pPr>
                <a:r>
                  <a:rPr lang="en-US" dirty="0"/>
                  <a:t>• Assume noise of bounded range </a:t>
                </a:r>
                <a:endParaRPr lang="en-US" dirty="0" smtClean="0"/>
              </a:p>
              <a:p>
                <a:pPr marL="0" indent="0" algn="l" rtl="0">
                  <a:buNone/>
                </a:pPr>
                <a:r>
                  <a:rPr lang="en-US" dirty="0"/>
                  <a:t>• Additive noise model implies range of </a:t>
                </a:r>
                <a:r>
                  <a:rPr lang="en-US" i="0" dirty="0" smtClean="0">
                    <a:latin typeface="+mj-lt"/>
                  </a:rPr>
                  <a:t>Y</a:t>
                </a:r>
                <a:r>
                  <a:rPr lang="en-US" dirty="0" smtClean="0"/>
                  <a:t> </a:t>
                </a:r>
                <a:r>
                  <a:rPr lang="en-US" dirty="0"/>
                  <a:t>around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 smtClean="0"/>
                  <a:t>constant </a:t>
                </a:r>
              </a:p>
              <a:p>
                <a:pPr marL="0" indent="0" algn="l" rtl="0">
                  <a:buNone/>
                </a:pPr>
                <a:r>
                  <a:rPr lang="en-US" dirty="0" smtClean="0"/>
                  <a:t>• </a:t>
                </a:r>
                <a:r>
                  <a:rPr lang="en-US" dirty="0"/>
                  <a:t>For nonlinear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range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around backward </a:t>
                </a:r>
                <a:r>
                  <a:rPr lang="en-US" dirty="0" smtClean="0"/>
                  <a:t>   function </a:t>
                </a:r>
                <a:r>
                  <a:rPr lang="en-US" dirty="0"/>
                  <a:t>non-constant </a:t>
                </a:r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3" y="1820864"/>
                <a:ext cx="6446520" cy="4351337"/>
              </a:xfrm>
              <a:blipFill rotWithShape="0">
                <a:blip r:embed="rId2"/>
                <a:stretch>
                  <a:fillRect l="-756" t="-1120" r="-189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876" y="4208335"/>
            <a:ext cx="4219575" cy="196386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5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05939"/>
            <a:ext cx="7269480" cy="1325562"/>
          </a:xfrm>
        </p:spPr>
        <p:txBody>
          <a:bodyPr/>
          <a:lstStyle/>
          <a:p>
            <a:r>
              <a:rPr lang="en-US" dirty="0" smtClean="0"/>
              <a:t>Multivariate ANM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6404" y="1759197"/>
                <a:ext cx="6446520" cy="4351337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dirty="0" smtClean="0"/>
                  <a:t>For some DAG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with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, assume</a:t>
                </a:r>
              </a:p>
              <a:p>
                <a:pPr marL="0" indent="0" algn="ctr" rtl="0">
                  <a:buNone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i="1" dirty="0" smtClean="0"/>
              </a:p>
              <a:p>
                <a:pPr marL="0" indent="0" algn="l" rtl="0">
                  <a:buNone/>
                </a:pPr>
                <a:r>
                  <a:rPr lang="en-US" dirty="0" smtClean="0"/>
                  <a:t>   With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 smtClean="0"/>
                  <a:t> independent.</a:t>
                </a:r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r>
                  <a:rPr lang="en-US" dirty="0" smtClean="0"/>
                  <a:t>There exists an efficient learning algorithm for Multivariate ANM. </a:t>
                </a:r>
              </a:p>
              <a:p>
                <a:pPr marL="0" indent="0" algn="l" rtl="0">
                  <a:buNone/>
                </a:pPr>
                <a:r>
                  <a:rPr lang="en-US" dirty="0" smtClean="0"/>
                  <a:t>This algorithm is based on regression and does not need conditional independence tests.</a:t>
                </a:r>
              </a:p>
              <a:p>
                <a:pPr marL="0" indent="0" algn="ctr" rtl="0">
                  <a:buNone/>
                </a:pPr>
                <a:r>
                  <a:rPr lang="en-US" dirty="0" smtClean="0"/>
                  <a:t>Idea: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⫫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𝐍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𝐲</m:t>
                        </m:r>
                      </m:sub>
                    </m:sSub>
                  </m:oMath>
                </a14:m>
                <a:r>
                  <a:rPr lang="en-US" b="1" dirty="0" smtClean="0"/>
                  <a:t> </a:t>
                </a:r>
                <a:r>
                  <a:rPr lang="en-US" dirty="0" smtClean="0"/>
                  <a:t>(</a:t>
                </a:r>
                <a:r>
                  <a:rPr lang="en-US" u="sng" dirty="0" smtClean="0"/>
                  <a:t>Phase 1</a:t>
                </a:r>
                <a:r>
                  <a:rPr lang="en-US" dirty="0" smtClean="0"/>
                  <a:t>: Causal Order, </a:t>
                </a:r>
                <a:r>
                  <a:rPr lang="en-US" u="sng" dirty="0" smtClean="0"/>
                  <a:t>Phase 2</a:t>
                </a:r>
                <a:r>
                  <a:rPr lang="en-US" dirty="0" smtClean="0"/>
                  <a:t>: Removing sink nodes)</a:t>
                </a:r>
                <a:endParaRPr lang="en-US" b="1" dirty="0" smtClean="0"/>
              </a:p>
              <a:p>
                <a:pPr marL="0" indent="0" algn="l" rtl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4" y="1759197"/>
                <a:ext cx="6446520" cy="4351337"/>
              </a:xfrm>
              <a:blipFill rotWithShape="0">
                <a:blip r:embed="rId2"/>
                <a:stretch>
                  <a:fillRect l="-756" t="-1262" b="-982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 smtClean="0"/>
              <a:t>Behrad Moniri - CI in Neuroimaging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5098" y="6238230"/>
            <a:ext cx="5515805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Peters, J., </a:t>
            </a:r>
            <a:r>
              <a:rPr lang="en-US" sz="1200" dirty="0" err="1"/>
              <a:t>Mooij</a:t>
            </a:r>
            <a:r>
              <a:rPr lang="en-US" sz="1200" dirty="0"/>
              <a:t>, J. M., </a:t>
            </a:r>
            <a:r>
              <a:rPr lang="en-US" sz="1200" dirty="0" err="1"/>
              <a:t>Janzing</a:t>
            </a:r>
            <a:r>
              <a:rPr lang="en-US" sz="1200" dirty="0"/>
              <a:t>, D., and </a:t>
            </a:r>
            <a:r>
              <a:rPr lang="en-US" sz="1200" dirty="0" err="1"/>
              <a:t>Schölkopf</a:t>
            </a:r>
            <a:r>
              <a:rPr lang="en-US" sz="1200" dirty="0"/>
              <a:t>, B. Causal discovery with continuous</a:t>
            </a:r>
            <a:br>
              <a:rPr lang="en-US" sz="1200" dirty="0"/>
            </a:br>
            <a:r>
              <a:rPr lang="en-US" sz="1200" dirty="0"/>
              <a:t>additive noise models. </a:t>
            </a:r>
            <a:r>
              <a:rPr lang="en-US" sz="1200" i="1" dirty="0" smtClean="0"/>
              <a:t>JMLR (2014).</a:t>
            </a:r>
            <a:endParaRPr lang="fa-IR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2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29" y="314485"/>
            <a:ext cx="7269480" cy="1325562"/>
          </a:xfrm>
        </p:spPr>
        <p:txBody>
          <a:bodyPr/>
          <a:lstStyle/>
          <a:p>
            <a:r>
              <a:rPr lang="en-US" dirty="0" smtClean="0"/>
              <a:t>RESIT Algorithm</a:t>
            </a:r>
            <a:endParaRPr lang="fa-IR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455698" cy="6172201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3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434126"/>
            <a:ext cx="7269480" cy="1325562"/>
          </a:xfrm>
        </p:spPr>
        <p:txBody>
          <a:bodyPr/>
          <a:lstStyle/>
          <a:p>
            <a:r>
              <a:rPr lang="en-US" dirty="0" smtClean="0"/>
              <a:t>Multivariate ANM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60" y="2086893"/>
                <a:ext cx="7543801" cy="4023360"/>
              </a:xfrm>
            </p:spPr>
            <p:txBody>
              <a:bodyPr/>
              <a:lstStyle/>
              <a:p>
                <a:pPr algn="just" rtl="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One can identify the DAG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(except for some rare cases</a:t>
                </a:r>
                <a:r>
                  <a:rPr lang="en-US" dirty="0" smtClean="0"/>
                  <a:t>).</a:t>
                </a:r>
                <a:endParaRPr lang="en-US" dirty="0"/>
              </a:p>
              <a:p>
                <a:pPr algn="just" rtl="0">
                  <a:buFont typeface="Courier New" panose="02070309020205020404" pitchFamily="49" charset="0"/>
                  <a:buChar char="o"/>
                </a:pPr>
                <a:r>
                  <a:rPr lang="en-US" dirty="0"/>
                  <a:t>Distinguishes even between Markov equivalent </a:t>
                </a:r>
                <a:r>
                  <a:rPr lang="en-US" dirty="0" smtClean="0"/>
                  <a:t>DAGs. </a:t>
                </a:r>
                <a:endParaRPr lang="en-US" dirty="0"/>
              </a:p>
              <a:p>
                <a:pPr algn="l" rtl="0">
                  <a:buFont typeface="Courier New" panose="02070309020205020404" pitchFamily="49" charset="0"/>
                  <a:buChar char="o"/>
                </a:pPr>
                <a:r>
                  <a:rPr lang="en-US" dirty="0"/>
                  <a:t>Avoids conditional independence testing: if all residuals </a:t>
                </a:r>
                <a:endParaRPr lang="en-US" dirty="0" smtClean="0"/>
              </a:p>
              <a:p>
                <a:pPr marL="0" indent="0" algn="l" rtl="0">
                  <a:buNone/>
                </a:pPr>
                <a:r>
                  <a:rPr lang="en-US" dirty="0" smtClean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𝐏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 err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dirty="0" err="1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independent,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satisfies the Markov </a:t>
                </a:r>
                <a:r>
                  <a:rPr lang="en-US" dirty="0" smtClean="0"/>
                  <a:t>   	condition </a:t>
                </a:r>
                <a:r>
                  <a:rPr lang="en-US" dirty="0"/>
                  <a:t>w.r.t.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pPr algn="l" rtl="0">
                  <a:buFont typeface="Courier New" panose="02070309020205020404" pitchFamily="49" charset="0"/>
                  <a:buChar char="o"/>
                </a:pPr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60" y="2086893"/>
                <a:ext cx="7543801" cy="4023360"/>
              </a:xfrm>
              <a:blipFill rotWithShape="0">
                <a:blip r:embed="rId2"/>
                <a:stretch>
                  <a:fillRect l="-162" t="-1212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5098" y="6238230"/>
            <a:ext cx="5515805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Peters, J., </a:t>
            </a:r>
            <a:r>
              <a:rPr lang="en-US" sz="1200" dirty="0" err="1"/>
              <a:t>Mooij</a:t>
            </a:r>
            <a:r>
              <a:rPr lang="en-US" sz="1200" dirty="0"/>
              <a:t>, J. M., </a:t>
            </a:r>
            <a:r>
              <a:rPr lang="en-US" sz="1200" dirty="0" err="1"/>
              <a:t>Janzing</a:t>
            </a:r>
            <a:r>
              <a:rPr lang="en-US" sz="1200" dirty="0"/>
              <a:t>, D., and </a:t>
            </a:r>
            <a:r>
              <a:rPr lang="en-US" sz="1200" dirty="0" err="1"/>
              <a:t>Schölkopf</a:t>
            </a:r>
            <a:r>
              <a:rPr lang="en-US" sz="1200" dirty="0"/>
              <a:t>, B. Causal discovery with continuous</a:t>
            </a:r>
            <a:br>
              <a:rPr lang="en-US" sz="1200" dirty="0"/>
            </a:br>
            <a:r>
              <a:rPr lang="en-US" sz="1200" dirty="0"/>
              <a:t>additive noise models. </a:t>
            </a:r>
            <a:r>
              <a:rPr lang="en-US" sz="1200" i="1" dirty="0" smtClean="0"/>
              <a:t>JMLR (2014).</a:t>
            </a:r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411159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485401"/>
            <a:ext cx="7269480" cy="1325562"/>
          </a:xfrm>
        </p:spPr>
        <p:txBody>
          <a:bodyPr/>
          <a:lstStyle/>
          <a:p>
            <a:r>
              <a:rPr lang="en-US" dirty="0" smtClean="0"/>
              <a:t>ANM and Neuroimaging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341390"/>
            <a:ext cx="7543801" cy="4023360"/>
          </a:xfrm>
        </p:spPr>
        <p:txBody>
          <a:bodyPr>
            <a:normAutofit/>
          </a:bodyPr>
          <a:lstStyle/>
          <a:p>
            <a:pPr algn="l" rtl="0"/>
            <a:r>
              <a:rPr lang="en-US" sz="2800" dirty="0" smtClean="0"/>
              <a:t>Never used  in neuroimaging studies! </a:t>
            </a:r>
          </a:p>
          <a:p>
            <a:pPr algn="l" rtl="0"/>
            <a:r>
              <a:rPr lang="en-US" sz="1600" dirty="0" smtClean="0"/>
              <a:t>(As far as I know. Searched a lot!)</a:t>
            </a:r>
            <a:endParaRPr lang="fa-IR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3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796" y="417035"/>
            <a:ext cx="7269480" cy="1325562"/>
          </a:xfrm>
        </p:spPr>
        <p:txBody>
          <a:bodyPr/>
          <a:lstStyle/>
          <a:p>
            <a:r>
              <a:rPr lang="en-US" dirty="0" smtClean="0"/>
              <a:t>Fast Causal Inference!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636" y="2148841"/>
            <a:ext cx="7543801" cy="4023360"/>
          </a:xfrm>
        </p:spPr>
        <p:txBody>
          <a:bodyPr>
            <a:normAutofit/>
          </a:bodyPr>
          <a:lstStyle/>
          <a:p>
            <a:pPr algn="l" rtl="0"/>
            <a:r>
              <a:rPr lang="en-US" dirty="0" smtClean="0"/>
              <a:t>FCI is a search procedure that accounts the </a:t>
            </a:r>
            <a:r>
              <a:rPr lang="en-US" dirty="0"/>
              <a:t>effect of unobserved, or latent, </a:t>
            </a:r>
            <a:r>
              <a:rPr lang="en-US" dirty="0" smtClean="0"/>
              <a:t>confounders.</a:t>
            </a:r>
          </a:p>
          <a:p>
            <a:pPr algn="l" rtl="0"/>
            <a:r>
              <a:rPr lang="en-US" b="1" dirty="0" smtClean="0"/>
              <a:t>Recovers Partial Ancestral Graph</a:t>
            </a: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dirty="0"/>
              <a:t>Directed </a:t>
            </a:r>
            <a:r>
              <a:rPr lang="en-US" dirty="0" smtClean="0"/>
              <a:t>edges</a:t>
            </a: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dirty="0" smtClean="0"/>
              <a:t>Bidirectional </a:t>
            </a:r>
            <a:r>
              <a:rPr lang="en-US" dirty="0"/>
              <a:t>edges </a:t>
            </a:r>
            <a:endParaRPr lang="en-US" dirty="0" smtClean="0"/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dirty="0" smtClean="0"/>
              <a:t>Induced edges (not enough information to uniquely determine the direction of the connection.)</a:t>
            </a:r>
          </a:p>
          <a:p>
            <a:pPr algn="l" rtl="0">
              <a:buFont typeface="Courier New" panose="02070309020205020404" pitchFamily="49" charset="0"/>
              <a:buChar char="o"/>
            </a:pPr>
            <a:endParaRPr lang="en-US" dirty="0"/>
          </a:p>
          <a:p>
            <a:pPr marL="0" indent="0" algn="l" rtl="0">
              <a:buNone/>
            </a:pPr>
            <a:r>
              <a:rPr lang="en-US" dirty="0" smtClean="0">
                <a:solidFill>
                  <a:srgbClr val="FF0000"/>
                </a:solidFill>
              </a:rPr>
              <a:t>Finds the class of DAGs (possibly with latent confounders) that have the same set of independence assertions.</a:t>
            </a:r>
            <a:endParaRPr lang="fa-IR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1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604" y="579405"/>
            <a:ext cx="7269480" cy="1325562"/>
          </a:xfrm>
        </p:spPr>
        <p:txBody>
          <a:bodyPr/>
          <a:lstStyle/>
          <a:p>
            <a:r>
              <a:rPr lang="en-US" dirty="0" smtClean="0"/>
              <a:t>Partial Ancestral Graphs</a:t>
            </a:r>
            <a:endParaRPr lang="fa-IR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188638"/>
            <a:ext cx="8375706" cy="1853381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3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05939"/>
            <a:ext cx="7269480" cy="1325562"/>
          </a:xfrm>
        </p:spPr>
        <p:txBody>
          <a:bodyPr/>
          <a:lstStyle/>
          <a:p>
            <a:r>
              <a:rPr lang="en-US" dirty="0" smtClean="0"/>
              <a:t>FCI in Neuroimaging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939897"/>
            <a:ext cx="6446520" cy="4351337"/>
          </a:xfrm>
        </p:spPr>
        <p:txBody>
          <a:bodyPr>
            <a:normAutofit/>
          </a:bodyPr>
          <a:lstStyle/>
          <a:p>
            <a:pPr algn="just" rtl="0"/>
            <a:r>
              <a:rPr lang="en-US" dirty="0"/>
              <a:t>To </a:t>
            </a:r>
            <a:r>
              <a:rPr lang="en-US" dirty="0" smtClean="0"/>
              <a:t>my knowledge, </a:t>
            </a:r>
            <a:r>
              <a:rPr lang="en-US" dirty="0"/>
              <a:t>FCI </a:t>
            </a:r>
            <a:r>
              <a:rPr lang="en-US" dirty="0" smtClean="0"/>
              <a:t> </a:t>
            </a:r>
            <a:r>
              <a:rPr lang="en-US" dirty="0"/>
              <a:t>has ever been applied to fMRI data</a:t>
            </a:r>
            <a:r>
              <a:rPr lang="en-US" dirty="0" smtClean="0"/>
              <a:t>.</a:t>
            </a:r>
          </a:p>
          <a:p>
            <a:pPr marL="0" indent="0" algn="just" rtl="0">
              <a:buNone/>
            </a:pPr>
            <a:endParaRPr lang="en-US" dirty="0"/>
          </a:p>
          <a:p>
            <a:pPr algn="just" rtl="0"/>
            <a:r>
              <a:rPr lang="en-US" b="1" dirty="0" smtClean="0"/>
              <a:t>Advantage:</a:t>
            </a:r>
            <a:r>
              <a:rPr lang="en-US" dirty="0" smtClean="0"/>
              <a:t> </a:t>
            </a:r>
            <a:r>
              <a:rPr lang="en-US" dirty="0"/>
              <a:t>accounting for of latent </a:t>
            </a:r>
            <a:r>
              <a:rPr lang="en-US" dirty="0" smtClean="0"/>
              <a:t>confounders</a:t>
            </a:r>
            <a:endParaRPr lang="en-US" dirty="0"/>
          </a:p>
          <a:p>
            <a:pPr algn="just" rtl="0"/>
            <a:r>
              <a:rPr lang="en-US" b="1" dirty="0" smtClean="0"/>
              <a:t>Disadvantage:</a:t>
            </a:r>
            <a:r>
              <a:rPr lang="en-US" dirty="0" smtClean="0"/>
              <a:t> the </a:t>
            </a:r>
            <a:r>
              <a:rPr lang="en-US" dirty="0"/>
              <a:t>need for </a:t>
            </a:r>
            <a:r>
              <a:rPr lang="en-US" dirty="0" err="1" smtClean="0"/>
              <a:t>iid</a:t>
            </a:r>
            <a:r>
              <a:rPr lang="en-US" dirty="0" smtClean="0"/>
              <a:t> random </a:t>
            </a:r>
            <a:r>
              <a:rPr lang="en-US" dirty="0"/>
              <a:t>variables</a:t>
            </a:r>
            <a:r>
              <a:rPr lang="en-US" dirty="0" smtClean="0"/>
              <a:t>.</a:t>
            </a:r>
          </a:p>
          <a:p>
            <a:pPr marL="0" indent="0" algn="just" rtl="0">
              <a:buNone/>
            </a:pPr>
            <a:r>
              <a:rPr lang="en-US" dirty="0" smtClean="0"/>
              <a:t>	fMRI </a:t>
            </a:r>
            <a:r>
              <a:rPr lang="en-US" dirty="0"/>
              <a:t>signal is almost by definition neither </a:t>
            </a:r>
            <a:r>
              <a:rPr lang="en-US" dirty="0" smtClean="0"/>
              <a:t>	independent </a:t>
            </a:r>
            <a:r>
              <a:rPr lang="en-US" dirty="0"/>
              <a:t>between </a:t>
            </a:r>
            <a:r>
              <a:rPr lang="en-US" dirty="0" err="1"/>
              <a:t>timepoints</a:t>
            </a:r>
            <a:r>
              <a:rPr lang="en-US" dirty="0"/>
              <a:t>, nor identically </a:t>
            </a:r>
            <a:r>
              <a:rPr lang="en-US" dirty="0" smtClean="0"/>
              <a:t>	distributed</a:t>
            </a:r>
            <a:r>
              <a:rPr lang="en-US" dirty="0"/>
              <a:t>. </a:t>
            </a:r>
            <a:endParaRPr lang="en-US" dirty="0" smtClean="0"/>
          </a:p>
          <a:p>
            <a:pPr algn="just" rtl="0"/>
            <a:r>
              <a:rPr lang="en-US" b="1" dirty="0" smtClean="0"/>
              <a:t>It’s output is not even a CPDAG!</a:t>
            </a:r>
            <a:endParaRPr lang="fa-IR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7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117726"/>
            <a:ext cx="6446520" cy="4351337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An extremely fruitful line of research, as the ability to account for latent confounders would be extremely useful in the fMRI context.</a:t>
            </a:r>
          </a:p>
          <a:p>
            <a:pPr algn="ctr"/>
            <a:endParaRPr lang="fa-I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35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4924" y="305939"/>
            <a:ext cx="7269480" cy="1325562"/>
          </a:xfrm>
        </p:spPr>
        <p:txBody>
          <a:bodyPr/>
          <a:lstStyle/>
          <a:p>
            <a:r>
              <a:rPr lang="en-US" dirty="0" smtClean="0"/>
              <a:t>FCI in Neuroimaging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08345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301" y="271756"/>
            <a:ext cx="7269480" cy="1325562"/>
          </a:xfrm>
        </p:spPr>
        <p:txBody>
          <a:bodyPr/>
          <a:lstStyle/>
          <a:p>
            <a:r>
              <a:rPr lang="en-US" dirty="0" smtClean="0"/>
              <a:t>Granger Causality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43854" y="1820864"/>
                <a:ext cx="6446520" cy="4351337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en-US" b="1" u="sng" dirty="0" smtClean="0"/>
                  <a:t>Simplified Definition</a:t>
                </a:r>
                <a:r>
                  <a:rPr lang="en-US" b="1" u="sng" dirty="0"/>
                  <a:t>: </a:t>
                </a:r>
                <a:endParaRPr lang="en-US" b="1" u="sng" dirty="0" smtClean="0"/>
              </a:p>
              <a:p>
                <a:pPr marL="0" indent="0" algn="just" rtl="0">
                  <a:buNone/>
                </a:pPr>
                <a:r>
                  <a:rPr lang="en-US" dirty="0" smtClean="0"/>
                  <a:t>One </a:t>
                </a:r>
                <a:r>
                  <a:rPr lang="en-US" dirty="0"/>
                  <a:t>stochastic process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causal to a second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if the autoregressive predictability of the second process at a given time point is improved by including measurements from the past of the </a:t>
                </a:r>
                <a:r>
                  <a:rPr lang="en-US" dirty="0" smtClean="0"/>
                  <a:t>first</a:t>
                </a:r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𝐏𝐫𝐞𝐝𝐀𝐜𝐜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𝐏𝐫𝐞𝐝𝐀𝐜𝐜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 marL="0" indent="0" algn="l" rtl="0">
                  <a:buNone/>
                </a:pPr>
                <a:endParaRPr lang="en-US" b="0" dirty="0" smtClean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b="0" dirty="0" smtClean="0"/>
              </a:p>
              <a:p>
                <a:pPr marL="0" indent="0" algn="l" rtl="0">
                  <a:buNone/>
                </a:pPr>
                <a:endParaRPr lang="en-US" b="0" dirty="0" smtClean="0"/>
              </a:p>
              <a:p>
                <a:pPr marL="0" indent="0" algn="l" rtl="0">
                  <a:buNone/>
                </a:pPr>
                <a:r>
                  <a:rPr lang="en-US" sz="1200" dirty="0" smtClean="0"/>
                  <a:t>CWJ </a:t>
                </a:r>
                <a:r>
                  <a:rPr lang="en-US" sz="1200" dirty="0"/>
                  <a:t>Granger, Investigating Causal Relations by Econometric Models and Cross-spectral Methods. </a:t>
                </a:r>
                <a:r>
                  <a:rPr lang="en-US" sz="1200" dirty="0" err="1"/>
                  <a:t>Econometrica</a:t>
                </a:r>
                <a:r>
                  <a:rPr lang="en-US" sz="1200" dirty="0"/>
                  <a:t>, </a:t>
                </a:r>
                <a:r>
                  <a:rPr lang="en-US" sz="1200" dirty="0" smtClean="0"/>
                  <a:t>1969</a:t>
                </a:r>
                <a:endParaRPr lang="fa-IR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3854" y="1820864"/>
                <a:ext cx="6446520" cy="4351337"/>
              </a:xfrm>
              <a:blipFill rotWithShape="0">
                <a:blip r:embed="rId2"/>
                <a:stretch>
                  <a:fillRect l="-756" t="-1120" r="-756" b="-10224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0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760"/>
            <a:ext cx="7269480" cy="1325562"/>
          </a:xfrm>
        </p:spPr>
        <p:txBody>
          <a:bodyPr/>
          <a:lstStyle/>
          <a:p>
            <a:r>
              <a:rPr lang="en-US" dirty="0" smtClean="0"/>
              <a:t>Granger Causality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221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300" b="0" i="0" smtClean="0">
                          <a:latin typeface="Cambria Math" panose="02040503050406030204" pitchFamily="18" charset="0"/>
                        </a:rPr>
                        <m:t>PredAcc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2300" b="0" i="0" smtClean="0">
                          <a:latin typeface="Cambria Math" panose="02040503050406030204" pitchFamily="18" charset="0"/>
                        </a:rPr>
                        <m:t>PredAcc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a-IR" sz="2300" b="0" dirty="0" smtClean="0"/>
              </a:p>
              <a:p>
                <a:pPr marL="0" indent="0">
                  <a:buNone/>
                </a:pPr>
                <a:endParaRPr lang="fa-IR" dirty="0"/>
              </a:p>
              <a:p>
                <a:pPr marL="0" indent="0">
                  <a:buNone/>
                </a:pPr>
                <a:endParaRPr lang="en-US" b="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2213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474" y="1691322"/>
            <a:ext cx="5719052" cy="306256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2371" y="6304261"/>
            <a:ext cx="747512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J Peters et al. Causal discovery on time series using restricted structural equation models. NIPS, 2013</a:t>
            </a:r>
            <a:endParaRPr lang="fa-IR" sz="1200" dirty="0"/>
          </a:p>
          <a:p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175310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57214"/>
            <a:ext cx="7269480" cy="1325562"/>
          </a:xfrm>
        </p:spPr>
        <p:txBody>
          <a:bodyPr/>
          <a:lstStyle/>
          <a:p>
            <a:r>
              <a:rPr lang="en-US" dirty="0" smtClean="0"/>
              <a:t>Granger Causality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 rtl="0"/>
                <a:r>
                  <a:rPr lang="en-US" b="1" u="sng" dirty="0" smtClean="0"/>
                  <a:t>Granger’s Definition:</a:t>
                </a:r>
                <a:r>
                  <a:rPr lang="en-US" dirty="0" smtClean="0"/>
                  <a:t> </a:t>
                </a:r>
                <a:r>
                  <a:rPr lang="en-US" dirty="0"/>
                  <a:t>One stochastic </a:t>
                </a:r>
                <a:r>
                  <a:rPr lang="en-US" dirty="0" smtClean="0"/>
                  <a:t>process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is </a:t>
                </a:r>
                <a:r>
                  <a:rPr lang="en-US" dirty="0"/>
                  <a:t>causal to a second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if the predictability of the second process at a given time point is worsened by removing past measurements of the </a:t>
                </a:r>
                <a:r>
                  <a:rPr lang="en-US" dirty="0" smtClean="0"/>
                  <a:t>First </a:t>
                </a:r>
                <a:r>
                  <a:rPr lang="en-US" dirty="0"/>
                  <a:t>from the universe’s </a:t>
                </a:r>
                <a:r>
                  <a:rPr lang="en-US" dirty="0" smtClean="0"/>
                  <a:t>past.</a:t>
                </a:r>
              </a:p>
              <a:p>
                <a:pPr marL="0" indent="0" algn="just" rtl="0">
                  <a:buNone/>
                </a:pPr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 algn="just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𝐏𝐫𝐞𝐝𝐀𝐜𝐜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𝐏𝐫𝐞𝐝𝐀𝐜𝐜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 algn="just" rtl="0">
                  <a:buNone/>
                </a:pPr>
                <a:endParaRPr lang="en-US" dirty="0" smtClean="0"/>
              </a:p>
              <a:p>
                <a:pPr marL="0" indent="0" algn="just" rtl="0">
                  <a:buNone/>
                </a:pPr>
                <a:endParaRPr lang="en-US" dirty="0"/>
              </a:p>
              <a:p>
                <a:pPr marL="0" indent="0" algn="just" rtl="0">
                  <a:buNone/>
                </a:pPr>
                <a:endParaRPr lang="en-US" dirty="0" smtClean="0"/>
              </a:p>
              <a:p>
                <a:pPr marL="0" indent="0" algn="just" rtl="0">
                  <a:buNone/>
                </a:pPr>
                <a:endParaRPr lang="en-US" dirty="0"/>
              </a:p>
              <a:p>
                <a:pPr algn="just" rtl="0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9" t="-1120" r="-756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7868" y="6350292"/>
            <a:ext cx="8363187" cy="55399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 smtClean="0"/>
              <a:t>Granger</a:t>
            </a:r>
            <a:r>
              <a:rPr lang="en-US" sz="1200" dirty="0"/>
              <a:t>, Investigating Causal Relations by Econometric Models and Cross-spectral Methods. </a:t>
            </a:r>
            <a:r>
              <a:rPr lang="en-US" sz="1200" dirty="0" err="1"/>
              <a:t>Econometrica</a:t>
            </a:r>
            <a:r>
              <a:rPr lang="en-US" sz="1200" dirty="0" smtClean="0"/>
              <a:t>, 1969</a:t>
            </a:r>
            <a:endParaRPr lang="fa-IR" sz="1200" dirty="0"/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60281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9" y="308176"/>
            <a:ext cx="7269480" cy="1325562"/>
          </a:xfrm>
        </p:spPr>
        <p:txBody>
          <a:bodyPr/>
          <a:lstStyle/>
          <a:p>
            <a:r>
              <a:rPr lang="en-US" dirty="0" smtClean="0"/>
              <a:t>Instantaneous Effect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4689" y="1820864"/>
            <a:ext cx="6446520" cy="4351337"/>
          </a:xfrm>
        </p:spPr>
        <p:txBody>
          <a:bodyPr>
            <a:normAutofit/>
          </a:bodyPr>
          <a:lstStyle/>
          <a:p>
            <a:pPr algn="just" rtl="0"/>
            <a:r>
              <a:rPr lang="en-US" dirty="0" smtClean="0"/>
              <a:t>Granger Causality fails when there are instantaneous effects.</a:t>
            </a:r>
          </a:p>
          <a:p>
            <a:pPr algn="just" rtl="0"/>
            <a:endParaRPr lang="en-US" dirty="0"/>
          </a:p>
          <a:p>
            <a:pPr algn="just" rtl="0"/>
            <a:r>
              <a:rPr lang="en-US" dirty="0" smtClean="0"/>
              <a:t>When </a:t>
            </a:r>
            <a:r>
              <a:rPr lang="en-US" dirty="0"/>
              <a:t>the temporal resolution of data collection is low relative to the process being studied, edges may appear </a:t>
            </a:r>
            <a:r>
              <a:rPr lang="en-US" dirty="0" smtClean="0"/>
              <a:t>contemporaneously.</a:t>
            </a:r>
          </a:p>
          <a:p>
            <a:pPr algn="l" rtl="0"/>
            <a:endParaRPr lang="en-US" dirty="0"/>
          </a:p>
          <a:p>
            <a:pPr algn="l" rtl="0"/>
            <a:endParaRPr lang="en-US" dirty="0" smtClean="0"/>
          </a:p>
          <a:p>
            <a:pPr algn="l" rtl="0"/>
            <a:endParaRPr lang="en-US" dirty="0" smtClean="0"/>
          </a:p>
          <a:p>
            <a:pPr algn="l" rtl="0"/>
            <a:endParaRPr lang="en-US" dirty="0"/>
          </a:p>
          <a:p>
            <a:pPr marL="0" indent="0" algn="l" rtl="0">
              <a:buNone/>
            </a:pPr>
            <a:endParaRPr lang="en-US" sz="1100" dirty="0" smtClean="0"/>
          </a:p>
          <a:p>
            <a:pPr algn="l" rtl="0"/>
            <a:endParaRPr lang="fa-I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523" y="4197212"/>
            <a:ext cx="4451564" cy="197498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39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451868"/>
            <a:ext cx="8268610" cy="55399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 smtClean="0"/>
              <a:t>Granger</a:t>
            </a:r>
            <a:r>
              <a:rPr lang="en-US" sz="1200" dirty="0"/>
              <a:t>, Investigating Causal Relations by Econometric Models and Cross-spectral Methods. </a:t>
            </a:r>
            <a:r>
              <a:rPr lang="en-US" sz="1200" dirty="0" err="1"/>
              <a:t>Econometrica</a:t>
            </a:r>
            <a:r>
              <a:rPr lang="en-US" sz="1200" dirty="0"/>
              <a:t>, 1969</a:t>
            </a:r>
            <a:endParaRPr lang="fa-IR" sz="1200" dirty="0"/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50004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91398"/>
            <a:ext cx="7269480" cy="13255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Granger Causality in Neuroimaging</a:t>
            </a:r>
            <a:endParaRPr lang="fa-IR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974080"/>
            <a:ext cx="6446520" cy="4351337"/>
          </a:xfrm>
        </p:spPr>
        <p:txBody>
          <a:bodyPr/>
          <a:lstStyle/>
          <a:p>
            <a:pPr algn="just" rtl="0"/>
            <a:r>
              <a:rPr lang="en-US" dirty="0" smtClean="0"/>
              <a:t>It </a:t>
            </a:r>
            <a:r>
              <a:rPr lang="en-US" dirty="0"/>
              <a:t>is one of the more </a:t>
            </a:r>
            <a:r>
              <a:rPr lang="en-US" b="1" dirty="0"/>
              <a:t>highly used</a:t>
            </a:r>
            <a:r>
              <a:rPr lang="en-US" dirty="0"/>
              <a:t> approaches for arriving at </a:t>
            </a:r>
            <a:r>
              <a:rPr lang="en-US" dirty="0" smtClean="0"/>
              <a:t>directed </a:t>
            </a:r>
            <a:r>
              <a:rPr lang="en-US" dirty="0"/>
              <a:t>connectivity models</a:t>
            </a:r>
            <a:r>
              <a:rPr lang="en-US" dirty="0" smtClean="0"/>
              <a:t>.</a:t>
            </a:r>
          </a:p>
          <a:p>
            <a:pPr algn="just" rtl="0"/>
            <a:endParaRPr lang="en-US" dirty="0"/>
          </a:p>
          <a:p>
            <a:pPr algn="just" rtl="0"/>
            <a:r>
              <a:rPr lang="en-US" dirty="0"/>
              <a:t>Using Granger </a:t>
            </a:r>
            <a:r>
              <a:rPr lang="en-US" dirty="0" smtClean="0"/>
              <a:t>Causality </a:t>
            </a:r>
            <a:r>
              <a:rPr lang="en-US" dirty="0"/>
              <a:t>for fMRI connectivity analysis has been under much </a:t>
            </a:r>
            <a:r>
              <a:rPr lang="en-US" b="1" dirty="0"/>
              <a:t>debate</a:t>
            </a:r>
            <a:r>
              <a:rPr lang="en-US" dirty="0"/>
              <a:t> in recent literature (e.g., Wen et al. 2013; Deshpande and Hu </a:t>
            </a:r>
            <a:r>
              <a:rPr lang="en-US" dirty="0" smtClean="0"/>
              <a:t>2012, … ).</a:t>
            </a:r>
            <a:endParaRPr lang="fa-IR" dirty="0"/>
          </a:p>
          <a:p>
            <a:pPr algn="just" rtl="0"/>
            <a:endParaRPr lang="en-US" dirty="0" smtClean="0"/>
          </a:p>
          <a:p>
            <a:pPr algn="just" rtl="0"/>
            <a:endParaRPr lang="fa-I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7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735" y="365760"/>
            <a:ext cx="7269480" cy="1325562"/>
          </a:xfrm>
        </p:spPr>
        <p:txBody>
          <a:bodyPr/>
          <a:lstStyle/>
          <a:p>
            <a:r>
              <a:rPr lang="en-US" dirty="0" err="1" smtClean="0"/>
              <a:t>TiMINo</a:t>
            </a:r>
            <a:r>
              <a:rPr lang="en-US" dirty="0" smtClean="0"/>
              <a:t> Causality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err="1" smtClean="0"/>
              <a:t>TiMINo</a:t>
            </a:r>
            <a:r>
              <a:rPr lang="en-US" dirty="0" smtClean="0"/>
              <a:t> is a natural extension of additive noise models to time series.</a:t>
            </a:r>
          </a:p>
          <a:p>
            <a:pPr algn="l" rtl="0"/>
            <a:endParaRPr lang="en-US" dirty="0"/>
          </a:p>
          <a:p>
            <a:pPr algn="l" rtl="0"/>
            <a:endParaRPr lang="en-US" dirty="0" smtClean="0"/>
          </a:p>
          <a:p>
            <a:pPr algn="l" rtl="0"/>
            <a:r>
              <a:rPr lang="en-US" dirty="0" smtClean="0"/>
              <a:t>A very similar Learning Algorithm to RESIT for ANMs, based on regression.</a:t>
            </a:r>
          </a:p>
          <a:p>
            <a:pPr algn="l" rtl="0"/>
            <a:endParaRPr lang="en-US" dirty="0"/>
          </a:p>
          <a:p>
            <a:pPr algn="l" rtl="0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44" y="2328053"/>
            <a:ext cx="4540862" cy="57334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5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129" y="297394"/>
            <a:ext cx="7269480" cy="1325562"/>
          </a:xfrm>
        </p:spPr>
        <p:txBody>
          <a:bodyPr/>
          <a:lstStyle/>
          <a:p>
            <a:r>
              <a:rPr lang="en-US" dirty="0" err="1" smtClean="0"/>
              <a:t>TiMINo</a:t>
            </a:r>
            <a:r>
              <a:rPr lang="en-US" dirty="0" smtClean="0"/>
              <a:t> in Neuroimaging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609" y="1828801"/>
            <a:ext cx="6446520" cy="4351337"/>
          </a:xfrm>
        </p:spPr>
        <p:txBody>
          <a:bodyPr>
            <a:normAutofit/>
          </a:bodyPr>
          <a:lstStyle/>
          <a:p>
            <a:pPr algn="l" rtl="0"/>
            <a:r>
              <a:rPr lang="en-US" sz="1600" b="1" dirty="0" smtClean="0"/>
              <a:t>No work has been done!</a:t>
            </a: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sz="1600" dirty="0"/>
              <a:t> </a:t>
            </a:r>
            <a:r>
              <a:rPr lang="en-US" sz="1600" dirty="0" smtClean="0"/>
              <a:t>It is a time series model!</a:t>
            </a: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sz="1600" dirty="0" smtClean="0"/>
              <a:t> </a:t>
            </a:r>
            <a:r>
              <a:rPr lang="en-US" sz="1600" dirty="0" err="1" smtClean="0"/>
              <a:t>TiMINo</a:t>
            </a:r>
            <a:r>
              <a:rPr lang="en-US" sz="1600" dirty="0" smtClean="0"/>
              <a:t> can handle instant effects.</a:t>
            </a:r>
          </a:p>
          <a:p>
            <a:pPr algn="l" rtl="0">
              <a:buFont typeface="Courier New" panose="02070309020205020404" pitchFamily="49" charset="0"/>
              <a:buChar char="o"/>
            </a:pPr>
            <a:r>
              <a:rPr lang="en-US" sz="1600" dirty="0"/>
              <a:t> </a:t>
            </a:r>
            <a:r>
              <a:rPr lang="en-US" sz="1600" dirty="0" err="1" smtClean="0"/>
              <a:t>TiMINo</a:t>
            </a:r>
            <a:r>
              <a:rPr lang="en-US" sz="1600" dirty="0" smtClean="0"/>
              <a:t> seems to be more robust to hidden confounding than Granger Causality (No proof for that!)</a:t>
            </a:r>
            <a:endParaRPr lang="fa-IR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2240"/>
            <a:ext cx="8343630" cy="272288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4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74306"/>
            <a:ext cx="7269480" cy="1325562"/>
          </a:xfrm>
        </p:spPr>
        <p:txBody>
          <a:bodyPr/>
          <a:lstStyle/>
          <a:p>
            <a:r>
              <a:rPr lang="en-US" dirty="0" smtClean="0"/>
              <a:t>Dynamic Causal Modeling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/>
            <a:r>
              <a:rPr lang="en-US" dirty="0"/>
              <a:t>Causality in DCM is used in a control theory sense and means that, under the model, activity in one brain area causes dynamics in another, and that these dynamics cause the observations. </a:t>
            </a:r>
            <a:endParaRPr lang="en-US" dirty="0" smtClean="0"/>
          </a:p>
          <a:p>
            <a:pPr marL="0" indent="0" algn="l" rtl="0">
              <a:buNone/>
            </a:pPr>
            <a:r>
              <a:rPr lang="en-US" sz="1800" dirty="0" smtClean="0"/>
              <a:t>(</a:t>
            </a:r>
            <a:r>
              <a:rPr lang="en-US" sz="1800" dirty="0" err="1"/>
              <a:t>Friston</a:t>
            </a:r>
            <a:r>
              <a:rPr lang="en-US" sz="1800" dirty="0"/>
              <a:t>, PLOS Biology, 2009)</a:t>
            </a:r>
            <a:endParaRPr lang="fa-IR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2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80" y="265520"/>
            <a:ext cx="7269480" cy="1325562"/>
          </a:xfrm>
        </p:spPr>
        <p:txBody>
          <a:bodyPr/>
          <a:lstStyle/>
          <a:p>
            <a:r>
              <a:rPr lang="en-GB" dirty="0" smtClean="0"/>
              <a:t>Dynamic Causal Models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05" y="1743162"/>
            <a:ext cx="8489950" cy="4428490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GB" dirty="0" smtClean="0"/>
              <a:t>“How does brain activity, z, change over time?”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745477" y="1239597"/>
            <a:ext cx="2773354" cy="3165765"/>
            <a:chOff x="5258259" y="1302141"/>
            <a:chExt cx="3670546" cy="3831359"/>
          </a:xfrm>
        </p:grpSpPr>
        <p:sp>
          <p:nvSpPr>
            <p:cNvPr id="39" name="Arc 38"/>
            <p:cNvSpPr/>
            <p:nvPr/>
          </p:nvSpPr>
          <p:spPr>
            <a:xfrm rot="2499746">
              <a:off x="7539964" y="1308219"/>
              <a:ext cx="601548" cy="614033"/>
            </a:xfrm>
            <a:prstGeom prst="arc">
              <a:avLst>
                <a:gd name="adj1" fmla="val 11619363"/>
                <a:gd name="adj2" fmla="val 2099655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00"/>
            </a:p>
          </p:txBody>
        </p:sp>
        <p:sp>
          <p:nvSpPr>
            <p:cNvPr id="38" name="Arc 37"/>
            <p:cNvSpPr/>
            <p:nvPr/>
          </p:nvSpPr>
          <p:spPr>
            <a:xfrm rot="2499746">
              <a:off x="7580334" y="3114649"/>
              <a:ext cx="601548" cy="614033"/>
            </a:xfrm>
            <a:prstGeom prst="arc">
              <a:avLst>
                <a:gd name="adj1" fmla="val 11619363"/>
                <a:gd name="adj2" fmla="val 2879836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000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V="1">
              <a:off x="7236297" y="2156602"/>
              <a:ext cx="0" cy="11617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7020270" y="1302141"/>
              <a:ext cx="854461" cy="854461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/>
                <a:t>V5</a:t>
              </a:r>
              <a:endParaRPr lang="en-GB" sz="1000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7020272" y="3030333"/>
              <a:ext cx="854461" cy="854461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/>
                <a:t>V1</a:t>
              </a:r>
              <a:endParaRPr lang="en-GB" sz="1000" dirty="0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7447500" y="3966437"/>
              <a:ext cx="0" cy="5040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6563224" y="3318366"/>
              <a:ext cx="443835" cy="409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 smtClean="0"/>
                <a:t>z</a:t>
              </a:r>
              <a:r>
                <a:rPr lang="en-GB" sz="1600" baseline="-25000" dirty="0" smtClean="0"/>
                <a:t>1</a:t>
              </a:r>
              <a:endParaRPr lang="en-GB" sz="1600" baseline="-250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563224" y="1580882"/>
              <a:ext cx="443835" cy="409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 smtClean="0"/>
                <a:t>z</a:t>
              </a:r>
              <a:r>
                <a:rPr lang="en-GB" sz="1600" baseline="-25000" dirty="0" smtClean="0"/>
                <a:t>2</a:t>
              </a:r>
              <a:endParaRPr lang="en-GB" sz="1600" baseline="-250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223521" y="3201831"/>
              <a:ext cx="556279" cy="409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 smtClean="0">
                  <a:solidFill>
                    <a:srgbClr val="7030A0"/>
                  </a:solidFill>
                </a:rPr>
                <a:t>a</a:t>
              </a:r>
              <a:r>
                <a:rPr lang="en-GB" sz="1600" baseline="-25000" dirty="0" smtClean="0">
                  <a:solidFill>
                    <a:srgbClr val="7030A0"/>
                  </a:solidFill>
                </a:rPr>
                <a:t>11</a:t>
              </a:r>
              <a:endParaRPr lang="en-GB" sz="1600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27511" y="1378571"/>
              <a:ext cx="520211" cy="3724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 smtClean="0">
                  <a:solidFill>
                    <a:srgbClr val="7030A0"/>
                  </a:solidFill>
                </a:rPr>
                <a:t>a</a:t>
              </a:r>
              <a:r>
                <a:rPr lang="en-GB" sz="1400" baseline="-25000" dirty="0" smtClean="0">
                  <a:solidFill>
                    <a:srgbClr val="7030A0"/>
                  </a:solidFill>
                </a:rPr>
                <a:t>22</a:t>
              </a:r>
              <a:endParaRPr lang="en-GB" sz="1400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55743" y="3966437"/>
              <a:ext cx="541427" cy="409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 smtClean="0">
                  <a:solidFill>
                    <a:srgbClr val="7030A0"/>
                  </a:solidFill>
                </a:rPr>
                <a:t>c</a:t>
              </a:r>
              <a:r>
                <a:rPr lang="en-GB" sz="1600" baseline="-25000" dirty="0" smtClean="0">
                  <a:solidFill>
                    <a:srgbClr val="7030A0"/>
                  </a:solidFill>
                </a:rPr>
                <a:t>11</a:t>
              </a:r>
              <a:endParaRPr lang="en-GB" sz="1600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03322" y="4686517"/>
              <a:ext cx="2425483" cy="446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Driving input u</a:t>
              </a:r>
              <a:r>
                <a:rPr lang="en-GB" baseline="-25000" dirty="0" smtClean="0"/>
                <a:t>1</a:t>
              </a:r>
              <a:endParaRPr lang="en-GB" baseline="-25000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5928943" y="2611179"/>
              <a:ext cx="114875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7236296" y="2386684"/>
              <a:ext cx="556279" cy="409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 smtClean="0">
                  <a:solidFill>
                    <a:srgbClr val="7030A0"/>
                  </a:solidFill>
                </a:rPr>
                <a:t>a</a:t>
              </a:r>
              <a:r>
                <a:rPr lang="en-GB" sz="1600" baseline="-25000" dirty="0" smtClean="0">
                  <a:solidFill>
                    <a:srgbClr val="7030A0"/>
                  </a:solidFill>
                </a:rPr>
                <a:t>21</a:t>
              </a:r>
              <a:endParaRPr lang="en-GB" sz="1600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928944" y="2128267"/>
              <a:ext cx="613561" cy="446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rgbClr val="7030A0"/>
                  </a:solidFill>
                </a:rPr>
                <a:t>b</a:t>
              </a:r>
              <a:r>
                <a:rPr lang="en-GB" baseline="-25000" dirty="0" smtClean="0">
                  <a:solidFill>
                    <a:srgbClr val="7030A0"/>
                  </a:solidFill>
                </a:rPr>
                <a:t>21</a:t>
              </a:r>
              <a:endParaRPr lang="en-GB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258259" y="2651454"/>
              <a:ext cx="1749540" cy="446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rgbClr val="7030A0"/>
                  </a:solidFill>
                </a:rPr>
                <a:t>Attention u</a:t>
              </a:r>
              <a:r>
                <a:rPr lang="en-GB" baseline="-25000" dirty="0" smtClean="0">
                  <a:solidFill>
                    <a:srgbClr val="7030A0"/>
                  </a:solidFill>
                </a:rPr>
                <a:t>2</a:t>
              </a:r>
              <a:endParaRPr lang="en-GB" baseline="-250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62499" y="2144964"/>
            <a:ext cx="4332361" cy="1299189"/>
            <a:chOff x="179512" y="2089143"/>
            <a:chExt cx="4332361" cy="1299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611560" y="2420888"/>
                  <a:ext cx="3900313" cy="967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0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  <m:r>
                          <a:rPr lang="en-GB" sz="2000" b="0" i="1" smtClean="0">
                            <a:latin typeface="Cambria Math"/>
                          </a:rPr>
                          <m:t>=(</m:t>
                        </m:r>
                        <m:r>
                          <a:rPr lang="en-GB" sz="2000" b="0" i="1" smtClean="0">
                            <a:latin typeface="Cambria Math"/>
                          </a:rPr>
                          <m:t>𝐴</m:t>
                        </m:r>
                        <m:r>
                          <a:rPr lang="en-GB" sz="2000" b="0" i="1" smtClean="0">
                            <a:latin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sz="2000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en-GB" sz="2000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GB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GB" sz="2000" b="0" i="1" smtClean="0">
                                <a:latin typeface="Cambria Math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/>
                              </a:rPr>
                              <m:t>𝐵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/>
                              </a:rPr>
                              <m:t>𝑗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/>
                          </a:rPr>
                          <m:t>)</m:t>
                        </m:r>
                        <m:r>
                          <a:rPr lang="en-GB" sz="2000" b="0" i="1" smtClean="0">
                            <a:latin typeface="Cambria Math"/>
                          </a:rPr>
                          <m:t>𝑧</m:t>
                        </m:r>
                        <m:r>
                          <a:rPr lang="en-GB" sz="2000" b="0" i="1" smtClean="0">
                            <a:latin typeface="Cambria Math"/>
                          </a:rPr>
                          <m:t>+</m:t>
                        </m:r>
                        <m:r>
                          <a:rPr lang="en-GB" sz="2000" b="0" i="1" smtClean="0">
                            <a:latin typeface="Cambria Math"/>
                          </a:rPr>
                          <m:t>𝐶𝑢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560" y="2420888"/>
                  <a:ext cx="3900313" cy="967444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/>
            <p:cNvSpPr txBox="1"/>
            <p:nvPr/>
          </p:nvSpPr>
          <p:spPr>
            <a:xfrm>
              <a:off x="179512" y="2089143"/>
              <a:ext cx="14782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 smtClean="0"/>
                <a:t>For m inputs:</a:t>
              </a:r>
              <a:endParaRPr lang="en-GB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18844" y="4405637"/>
                <a:ext cx="5622886" cy="607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GB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GB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GB" b="0" i="1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GB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844" y="4405637"/>
                <a:ext cx="5622886" cy="60753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1632097" y="3851756"/>
            <a:ext cx="1762988" cy="504056"/>
            <a:chOff x="2056049" y="3851756"/>
            <a:chExt cx="1402948" cy="504056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2136240" y="4355812"/>
              <a:ext cx="99358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056049" y="3851756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rgbClr val="C00000"/>
                  </a:solidFill>
                </a:rPr>
                <a:t>A: Structure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062785" y="3717032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 smtClean="0">
                <a:solidFill>
                  <a:srgbClr val="C00000"/>
                </a:solidFill>
              </a:rPr>
              <a:t>B: Modulatory</a:t>
            </a:r>
          </a:p>
          <a:p>
            <a:pPr algn="ctr"/>
            <a:r>
              <a:rPr lang="en-GB" dirty="0" smtClean="0">
                <a:solidFill>
                  <a:srgbClr val="C00000"/>
                </a:solidFill>
              </a:rPr>
              <a:t>Input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3275856" y="4365104"/>
            <a:ext cx="115212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033879" y="3717032"/>
            <a:ext cx="1197765" cy="648072"/>
            <a:chOff x="5033879" y="3717032"/>
            <a:chExt cx="1197765" cy="648072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5220072" y="4365104"/>
              <a:ext cx="792088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033879" y="3717032"/>
              <a:ext cx="1197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C: Driving</a:t>
              </a:r>
            </a:p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Input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98357" y="5085184"/>
            <a:ext cx="1351652" cy="1284469"/>
            <a:chOff x="98357" y="5085184"/>
            <a:chExt cx="1351652" cy="1284469"/>
          </a:xfrm>
        </p:grpSpPr>
        <p:cxnSp>
          <p:nvCxnSpPr>
            <p:cNvPr id="21" name="Straight Arrow Connector 20"/>
            <p:cNvCxnSpPr/>
            <p:nvPr/>
          </p:nvCxnSpPr>
          <p:spPr>
            <a:xfrm flipV="1">
              <a:off x="864899" y="5085184"/>
              <a:ext cx="394733" cy="36004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98357" y="5446323"/>
              <a:ext cx="135165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Change in </a:t>
              </a:r>
            </a:p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activity per </a:t>
              </a:r>
            </a:p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region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49" name="Straight Arrow Connector 48"/>
          <p:cNvCxnSpPr/>
          <p:nvPr/>
        </p:nvCxnSpPr>
        <p:spPr>
          <a:xfrm flipV="1">
            <a:off x="3395085" y="5085184"/>
            <a:ext cx="1166" cy="43433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46565" y="5651494"/>
            <a:ext cx="17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 smtClean="0">
                <a:solidFill>
                  <a:srgbClr val="C00000"/>
                </a:solidFill>
              </a:rPr>
              <a:t>External input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 smtClean="0">
                <a:solidFill>
                  <a:srgbClr val="C00000"/>
                </a:solidFill>
              </a:rPr>
              <a:t>2</a:t>
            </a:r>
          </a:p>
          <a:p>
            <a:pPr algn="ctr"/>
            <a:r>
              <a:rPr lang="en-GB" dirty="0" smtClean="0">
                <a:solidFill>
                  <a:srgbClr val="C00000"/>
                </a:solidFill>
              </a:rPr>
              <a:t>(attention)</a:t>
            </a:r>
            <a:endParaRPr lang="en-GB" dirty="0">
              <a:solidFill>
                <a:srgbClr val="C00000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4772363" y="5085184"/>
            <a:ext cx="1223413" cy="1219167"/>
            <a:chOff x="4772363" y="5085184"/>
            <a:chExt cx="1223413" cy="1219167"/>
          </a:xfrm>
        </p:grpSpPr>
        <p:cxnSp>
          <p:nvCxnSpPr>
            <p:cNvPr id="54" name="Straight Arrow Connector 53"/>
            <p:cNvCxnSpPr/>
            <p:nvPr/>
          </p:nvCxnSpPr>
          <p:spPr>
            <a:xfrm flipH="1" flipV="1">
              <a:off x="4788025" y="5085184"/>
              <a:ext cx="172626" cy="43433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4772363" y="5381021"/>
              <a:ext cx="122341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Current</a:t>
              </a:r>
            </a:p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activity </a:t>
              </a:r>
            </a:p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per region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290907" y="5085184"/>
            <a:ext cx="1633781" cy="1148126"/>
            <a:chOff x="6290907" y="5085184"/>
            <a:chExt cx="1633781" cy="1148126"/>
          </a:xfrm>
        </p:grpSpPr>
        <p:cxnSp>
          <p:nvCxnSpPr>
            <p:cNvPr id="56" name="Straight Arrow Connector 55"/>
            <p:cNvCxnSpPr/>
            <p:nvPr/>
          </p:nvCxnSpPr>
          <p:spPr>
            <a:xfrm flipH="1" flipV="1">
              <a:off x="6372200" y="5085184"/>
              <a:ext cx="271075" cy="72008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6290907" y="5586979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All </a:t>
              </a:r>
            </a:p>
            <a:p>
              <a:pPr algn="ctr"/>
              <a:r>
                <a:rPr lang="en-GB" dirty="0" smtClean="0">
                  <a:solidFill>
                    <a:srgbClr val="C00000"/>
                  </a:solidFill>
                </a:rPr>
                <a:t>external input</a:t>
              </a:r>
              <a:r>
                <a:rPr lang="en-GB" dirty="0">
                  <a:solidFill>
                    <a:srgbClr val="C00000"/>
                  </a:solidFill>
                </a:rPr>
                <a:t> </a:t>
              </a:r>
              <a:endParaRPr lang="en-GB" dirty="0" smtClean="0">
                <a:solidFill>
                  <a:srgbClr val="C00000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76788" y="6473890"/>
            <a:ext cx="42067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(KJ </a:t>
            </a:r>
            <a:r>
              <a:rPr lang="en-US" sz="1200" dirty="0" err="1"/>
              <a:t>Friston</a:t>
            </a:r>
            <a:r>
              <a:rPr lang="en-US" sz="1200" dirty="0"/>
              <a:t> et al., Dynamic Causal Modelling. </a:t>
            </a:r>
            <a:r>
              <a:rPr lang="en-US" sz="1200" dirty="0" err="1"/>
              <a:t>NeuroImage</a:t>
            </a:r>
            <a:r>
              <a:rPr lang="en-US" sz="1200" dirty="0"/>
              <a:t>, 2003) </a:t>
            </a:r>
            <a:endParaRPr lang="fa-IR" sz="120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7" grpId="0"/>
      <p:bldP spid="5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54" y="-347447"/>
            <a:ext cx="6531645" cy="719528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 rot="16200000">
            <a:off x="-1871188" y="4741045"/>
            <a:ext cx="42067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(KJ </a:t>
            </a:r>
            <a:r>
              <a:rPr lang="en-US" sz="1200" dirty="0" err="1"/>
              <a:t>Friston</a:t>
            </a:r>
            <a:r>
              <a:rPr lang="en-US" sz="1200" dirty="0"/>
              <a:t> et al., Dynamic Causal Modelling. </a:t>
            </a:r>
            <a:r>
              <a:rPr lang="en-US" sz="1200" dirty="0" err="1"/>
              <a:t>NeuroImage</a:t>
            </a:r>
            <a:r>
              <a:rPr lang="en-US" sz="1200" dirty="0"/>
              <a:t>, 2003) </a:t>
            </a:r>
            <a:endParaRPr lang="fa-IR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3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4924" y="254664"/>
            <a:ext cx="7269480" cy="1325562"/>
          </a:xfrm>
        </p:spPr>
        <p:txBody>
          <a:bodyPr/>
          <a:lstStyle/>
          <a:p>
            <a:r>
              <a:rPr lang="en-US" dirty="0" smtClean="0"/>
              <a:t>Dynamic Causal Modelling</a:t>
            </a:r>
            <a:endParaRPr lang="fa-I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946404" y="1823065"/>
                <a:ext cx="6446520" cy="4351337"/>
              </a:xfrm>
            </p:spPr>
            <p:txBody>
              <a:bodyPr/>
              <a:lstStyle/>
              <a:p>
                <a:pPr marL="0" indent="0" algn="l" rtl="0">
                  <a:buNone/>
                </a:pPr>
                <a:r>
                  <a:rPr lang="en-US" b="1" dirty="0" smtClean="0"/>
                  <a:t>Inference procedure:</a:t>
                </a:r>
              </a:p>
              <a:p>
                <a:pPr algn="l" rtl="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 smtClean="0"/>
              </a:p>
              <a:p>
                <a:pPr algn="l" rtl="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Fit models to observed data</a:t>
                </a:r>
              </a:p>
              <a:p>
                <a:pPr algn="l" rtl="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Best fitting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dirty="0" smtClean="0"/>
                  <a:t> wins</a:t>
                </a:r>
                <a:endParaRPr lang="fa-IR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4" y="1823065"/>
                <a:ext cx="6446520" cy="4351337"/>
              </a:xfrm>
              <a:blipFill rotWithShape="0">
                <a:blip r:embed="rId2"/>
                <a:stretch>
                  <a:fillRect l="-756" t="-980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0622" y="6330563"/>
            <a:ext cx="4206793" cy="27699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(KJ </a:t>
            </a:r>
            <a:r>
              <a:rPr lang="en-US" sz="1200" dirty="0" err="1"/>
              <a:t>Friston</a:t>
            </a:r>
            <a:r>
              <a:rPr lang="en-US" sz="1200" dirty="0"/>
              <a:t> et al., Dynamic Causal Modelling. </a:t>
            </a:r>
            <a:r>
              <a:rPr lang="en-US" sz="1200" dirty="0" err="1"/>
              <a:t>NeuroImage</a:t>
            </a:r>
            <a:r>
              <a:rPr lang="en-US" sz="1200" dirty="0"/>
              <a:t>, 2003) </a:t>
            </a:r>
            <a:endParaRPr lang="fa-IR" sz="1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6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24" y="338033"/>
            <a:ext cx="7269480" cy="1325562"/>
          </a:xfrm>
        </p:spPr>
        <p:txBody>
          <a:bodyPr/>
          <a:lstStyle/>
          <a:p>
            <a:r>
              <a:rPr lang="en-US" dirty="0" smtClean="0"/>
              <a:t>Criticism of DCM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46404" y="1837348"/>
            <a:ext cx="6446520" cy="4351337"/>
          </a:xfrm>
        </p:spPr>
        <p:txBody>
          <a:bodyPr>
            <a:noAutofit/>
          </a:bodyPr>
          <a:lstStyle/>
          <a:p>
            <a:pPr algn="l" rtl="0"/>
            <a:r>
              <a:rPr lang="en-US" sz="1600" dirty="0" err="1" smtClean="0"/>
              <a:t>Lohmann</a:t>
            </a:r>
            <a:r>
              <a:rPr lang="en-US" sz="1600" dirty="0" smtClean="0"/>
              <a:t> et al. 2012: Large number of Model Parameter</a:t>
            </a:r>
          </a:p>
          <a:p>
            <a:pPr marL="2286000" lvl="5" indent="0" algn="l" rtl="0">
              <a:buNone/>
            </a:pPr>
            <a:r>
              <a:rPr lang="en-US" sz="1600" dirty="0"/>
              <a:t>Number of parameters </a:t>
            </a:r>
            <a:r>
              <a:rPr lang="en-US" sz="1600" b="1" dirty="0"/>
              <a:t>explode </a:t>
            </a:r>
            <a:r>
              <a:rPr lang="en-US" sz="1600" dirty="0"/>
              <a:t> by increasing m and n!</a:t>
            </a:r>
          </a:p>
          <a:p>
            <a:pPr marL="2286000" lvl="5" indent="0" algn="l" rtl="0">
              <a:buNone/>
            </a:pPr>
            <a:r>
              <a:rPr lang="en-US" sz="1600" dirty="0"/>
              <a:t>Identification is impossible from experimental data</a:t>
            </a:r>
          </a:p>
          <a:p>
            <a:pPr marL="0" indent="0" algn="l" rtl="0">
              <a:buNone/>
            </a:pPr>
            <a:r>
              <a:rPr lang="en-US" sz="1600" b="1" dirty="0" smtClean="0"/>
              <a:t>Their experiment:</a:t>
            </a:r>
          </a:p>
          <a:p>
            <a:pPr algn="l" rtl="0"/>
            <a:r>
              <a:rPr lang="en-US" sz="1600" dirty="0"/>
              <a:t>S</a:t>
            </a:r>
            <a:r>
              <a:rPr lang="en-US" sz="1600" dirty="0" smtClean="0"/>
              <a:t>imulated brain connections.</a:t>
            </a:r>
          </a:p>
          <a:p>
            <a:pPr algn="l" rtl="0"/>
            <a:r>
              <a:rPr lang="en-US" sz="1600" dirty="0" smtClean="0"/>
              <a:t>Large fraction of wrong models obtained higher evidence by DCM compared to the true “best” model.</a:t>
            </a:r>
          </a:p>
          <a:p>
            <a:pPr algn="l" rtl="0"/>
            <a:r>
              <a:rPr lang="en-US" sz="1600" dirty="0"/>
              <a:t>Similar model </a:t>
            </a:r>
            <a:r>
              <a:rPr lang="en-US" sz="1600" dirty="0" smtClean="0"/>
              <a:t>fit </a:t>
            </a:r>
            <a:r>
              <a:rPr lang="en-US" sz="1600" dirty="0"/>
              <a:t>does not translate into similar </a:t>
            </a:r>
            <a:r>
              <a:rPr lang="en-US" sz="1600" dirty="0" err="1"/>
              <a:t>connectivities</a:t>
            </a:r>
            <a:r>
              <a:rPr lang="en-US" sz="1600" dirty="0"/>
              <a:t>!</a:t>
            </a:r>
            <a:endParaRPr lang="en-US" sz="1600" dirty="0" smtClean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6214" y="6315174"/>
            <a:ext cx="8489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Lohmann</a:t>
            </a:r>
            <a:r>
              <a:rPr lang="en-US" sz="1200" dirty="0" smtClean="0"/>
              <a:t> et al., 2012</a:t>
            </a:r>
            <a:endParaRPr lang="en-GB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9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23031"/>
            <a:ext cx="7269480" cy="1325562"/>
          </a:xfrm>
        </p:spPr>
        <p:txBody>
          <a:bodyPr/>
          <a:lstStyle/>
          <a:p>
            <a:r>
              <a:rPr lang="en-US" dirty="0"/>
              <a:t>Criticism of DCM </a:t>
            </a:r>
            <a:endParaRPr lang="fa-IR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585" y="1825028"/>
            <a:ext cx="7886700" cy="391240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60482" y="5734658"/>
            <a:ext cx="6005170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 dirty="0"/>
              <a:t>Similar </a:t>
            </a:r>
            <a:r>
              <a:rPr lang="en-US" sz="1600" dirty="0" smtClean="0"/>
              <a:t>models does </a:t>
            </a:r>
            <a:r>
              <a:rPr lang="en-US" sz="1600" dirty="0"/>
              <a:t>not translate into similar </a:t>
            </a:r>
            <a:r>
              <a:rPr lang="en-US" sz="1600" dirty="0" err="1"/>
              <a:t>connectivities</a:t>
            </a:r>
            <a:r>
              <a:rPr lang="en-US" sz="1600" dirty="0"/>
              <a:t>!</a:t>
            </a:r>
            <a:endParaRPr lang="fa-IR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6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798" y="333256"/>
            <a:ext cx="7269480" cy="13255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Stimulus Based Causal Inference</a:t>
            </a:r>
            <a:endParaRPr lang="fa-IR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41614" y="1845892"/>
                <a:ext cx="7301847" cy="4529270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dirty="0" smtClean="0"/>
                  <a:t> Randomized </a:t>
                </a:r>
                <a:r>
                  <a:rPr lang="en-US" dirty="0"/>
                  <a:t>stimulus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sz="1700" dirty="0"/>
                  <a:t>(i.e., a parentless node!)</a:t>
                </a:r>
                <a:endParaRPr lang="en-US" dirty="0" smtClean="0"/>
              </a:p>
              <a:p>
                <a:pPr algn="l" rtl="0"/>
                <a:r>
                  <a:rPr lang="en-US" dirty="0" smtClean="0"/>
                  <a:t> Observed </a:t>
                </a:r>
                <a:r>
                  <a:rPr lang="en-US" b="1" dirty="0" smtClean="0"/>
                  <a:t>Neural Activity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algn="l" rtl="0"/>
                <a:r>
                  <a:rPr lang="en-US" dirty="0" smtClean="0"/>
                  <a:t>Assume </a:t>
                </a:r>
                <a:r>
                  <a:rPr lang="en-US" dirty="0"/>
                  <a:t>we </a:t>
                </a:r>
                <a:r>
                  <a:rPr lang="en-US" dirty="0" smtClean="0"/>
                  <a:t>find </a:t>
                </a:r>
              </a:p>
              <a:p>
                <a:pPr marL="0" indent="0" algn="l" rtl="0">
                  <a:buNone/>
                </a:pPr>
                <a:endParaRPr lang="en-US" dirty="0" smtClean="0"/>
              </a:p>
              <a:p>
                <a:pPr algn="l" rtl="0"/>
                <a:endParaRPr lang="en-US" dirty="0"/>
              </a:p>
              <a:p>
                <a:pPr algn="l" rtl="0"/>
                <a:endParaRPr lang="en-US" dirty="0" smtClean="0"/>
              </a:p>
              <a:p>
                <a:pPr algn="l" rtl="0"/>
                <a:r>
                  <a:rPr lang="en-US" dirty="0" smtClean="0"/>
                  <a:t>Can </a:t>
                </a:r>
                <a:r>
                  <a:rPr lang="en-US" dirty="0"/>
                  <a:t>formally prove that X indeed is a cause of Y </a:t>
                </a:r>
                <a:endParaRPr lang="en-US" dirty="0" smtClean="0"/>
              </a:p>
              <a:p>
                <a:pPr algn="l" rtl="0"/>
                <a:r>
                  <a:rPr lang="en-US" dirty="0" smtClean="0"/>
                  <a:t>Can rule out cases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 smtClean="0"/>
              </a:p>
              <a:p>
                <a:pPr algn="l" rtl="0"/>
                <a:r>
                  <a:rPr lang="en-US" dirty="0" smtClean="0"/>
                  <a:t>Robust against hidden confounding.</a:t>
                </a:r>
                <a:endParaRPr lang="en-US" dirty="0"/>
              </a:p>
              <a:p>
                <a:pPr algn="l" rtl="0"/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1614" y="1845892"/>
                <a:ext cx="7301847" cy="4529270"/>
              </a:xfrm>
              <a:blipFill rotWithShape="0">
                <a:blip r:embed="rId2"/>
                <a:stretch>
                  <a:fillRect l="-167" t="-1211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324" y="3289100"/>
            <a:ext cx="5704425" cy="110919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49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8043" y="6375162"/>
            <a:ext cx="580158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M Grosse-</a:t>
            </a:r>
            <a:r>
              <a:rPr lang="en-US" sz="1200" dirty="0" err="1"/>
              <a:t>Wentrup</a:t>
            </a:r>
            <a:r>
              <a:rPr lang="en-US" sz="1200" dirty="0"/>
              <a:t> et al., </a:t>
            </a:r>
            <a:r>
              <a:rPr lang="en-US" sz="1200" dirty="0" err="1"/>
              <a:t>NeuroImage</a:t>
            </a:r>
            <a:r>
              <a:rPr lang="en-US" sz="1200" dirty="0"/>
              <a:t>, 2015</a:t>
            </a:r>
          </a:p>
          <a:p>
            <a:r>
              <a:rPr lang="en-US" sz="1200" dirty="0"/>
              <a:t>S </a:t>
            </a:r>
            <a:r>
              <a:rPr lang="en-US" sz="1200" dirty="0" err="1"/>
              <a:t>Weichwald</a:t>
            </a:r>
            <a:r>
              <a:rPr lang="en-US" sz="1200" dirty="0"/>
              <a:t> et al., IEEE Journal of Selected Topics in Signal Processing, 2016</a:t>
            </a:r>
          </a:p>
          <a:p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61827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29" y="545222"/>
            <a:ext cx="7269480" cy="1325562"/>
          </a:xfrm>
        </p:spPr>
        <p:txBody>
          <a:bodyPr>
            <a:normAutofit/>
          </a:bodyPr>
          <a:lstStyle/>
          <a:p>
            <a:r>
              <a:rPr lang="en-US" dirty="0" err="1" smtClean="0"/>
              <a:t>MERLiN</a:t>
            </a:r>
            <a:r>
              <a:rPr lang="en-US" dirty="0"/>
              <a:t> 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2400" dirty="0" smtClean="0"/>
              <a:t>Mixture Effect </a:t>
            </a:r>
            <a:r>
              <a:rPr lang="en-US" sz="2400" dirty="0"/>
              <a:t>Recovery in Linear Networks</a:t>
            </a:r>
            <a:endParaRPr lang="fa-IR" sz="24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150" y="2498469"/>
            <a:ext cx="6446838" cy="290944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381" y="413512"/>
            <a:ext cx="7269480" cy="1325562"/>
          </a:xfrm>
        </p:spPr>
        <p:txBody>
          <a:bodyPr>
            <a:normAutofit/>
          </a:bodyPr>
          <a:lstStyle/>
          <a:p>
            <a:r>
              <a:rPr lang="en-US" dirty="0" err="1" smtClean="0"/>
              <a:t>MERLiN</a:t>
            </a:r>
            <a:r>
              <a:rPr lang="en-US" dirty="0"/>
              <a:t> 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2400" dirty="0" smtClean="0"/>
              <a:t>Mixture Effect </a:t>
            </a:r>
            <a:r>
              <a:rPr lang="en-US" sz="2400" dirty="0"/>
              <a:t>Recovery in Linear Networks</a:t>
            </a:r>
            <a:endParaRPr lang="fa-I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7221" y="1845734"/>
                <a:ext cx="7543801" cy="4469608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dirty="0" smtClean="0"/>
                  <a:t>Given samples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 smtClean="0"/>
              </a:p>
              <a:p>
                <a:pPr algn="l" rtl="0"/>
                <a:r>
                  <a:rPr lang="en-US" dirty="0" smtClean="0"/>
                  <a:t>Find </a:t>
                </a:r>
                <a:r>
                  <a:rPr lang="en-US" dirty="0"/>
                  <a:t>linear combination w such </a:t>
                </a:r>
                <a:r>
                  <a:rPr lang="en-US" dirty="0" smtClean="0"/>
                  <a:t>that</a:t>
                </a:r>
              </a:p>
              <a:p>
                <a:pPr algn="l" rtl="0"/>
                <a:endParaRPr lang="en-US" dirty="0"/>
              </a:p>
              <a:p>
                <a:pPr algn="l" rtl="0"/>
                <a:endParaRPr lang="en-US" dirty="0" smtClean="0"/>
              </a:p>
              <a:p>
                <a:pPr algn="l" rtl="0"/>
                <a:endParaRPr lang="en-US" dirty="0"/>
              </a:p>
              <a:p>
                <a:pPr algn="l" rtl="0"/>
                <a:endParaRPr lang="en-US" dirty="0" smtClean="0"/>
              </a:p>
              <a:p>
                <a:pPr marL="0" indent="0" algn="l" rtl="0">
                  <a:buNone/>
                </a:pPr>
                <a:r>
                  <a:rPr lang="en-US" b="1" i="0" dirty="0" smtClean="0">
                    <a:latin typeface="Cambria Math" panose="020405030504060302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i="0" dirty="0" smtClean="0">
                    <a:latin typeface="Cambria Math" panose="02040503050406030204" pitchFamily="18" charset="0"/>
                  </a:rPr>
                  <a:t> such that: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high</m:t>
                    </m:r>
                  </m:oMath>
                </a14:m>
                <a:endParaRPr lang="en-US" dirty="0" smtClean="0"/>
              </a:p>
              <a:p>
                <a:pPr algn="l" rt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Low</m:t>
                    </m:r>
                  </m:oMath>
                </a14:m>
                <a:endParaRPr lang="en-US" sz="1400" dirty="0" smtClean="0"/>
              </a:p>
              <a:p>
                <a:pPr marL="0" indent="0" algn="l" rtl="0">
                  <a:buNone/>
                </a:pPr>
                <a:endParaRPr lang="en-US" sz="1400" dirty="0" smtClean="0"/>
              </a:p>
              <a:p>
                <a:pPr marL="0" indent="0" algn="l" rtl="0">
                  <a:buNone/>
                </a:pPr>
                <a:endParaRPr lang="en-US" sz="1400" dirty="0" smtClean="0"/>
              </a:p>
              <a:p>
                <a:pPr marL="0" indent="0" algn="l" rtl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221" y="1845734"/>
                <a:ext cx="7543801" cy="4469608"/>
              </a:xfrm>
              <a:blipFill rotWithShape="0">
                <a:blip r:embed="rId2"/>
                <a:stretch>
                  <a:fillRect l="-646" t="-1228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66" y="3244303"/>
            <a:ext cx="2903659" cy="9744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024" y="2801941"/>
            <a:ext cx="4581004" cy="206740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51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369" y="6315342"/>
            <a:ext cx="5572359" cy="76944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S </a:t>
            </a:r>
            <a:r>
              <a:rPr lang="en-US" sz="1200" dirty="0" err="1"/>
              <a:t>Weichwald</a:t>
            </a:r>
            <a:r>
              <a:rPr lang="en-US" sz="1200" dirty="0"/>
              <a:t> et al., </a:t>
            </a:r>
            <a:r>
              <a:rPr lang="en-US" sz="1200" dirty="0" err="1"/>
              <a:t>MERLiN</a:t>
            </a:r>
            <a:r>
              <a:rPr lang="en-US" sz="1200" dirty="0"/>
              <a:t>: Mixture Effect Recovery in Linear Networks. </a:t>
            </a:r>
            <a:endParaRPr lang="en-US" sz="1200" dirty="0" smtClean="0"/>
          </a:p>
          <a:p>
            <a:r>
              <a:rPr lang="en-US" sz="1200" dirty="0"/>
              <a:t> </a:t>
            </a:r>
            <a:r>
              <a:rPr lang="en-US" sz="1200" dirty="0" smtClean="0"/>
              <a:t>      IEEE </a:t>
            </a:r>
            <a:r>
              <a:rPr lang="en-US" sz="1200" dirty="0"/>
              <a:t>Journal of Selected Topics in Signal Processing, 2016</a:t>
            </a:r>
            <a:endParaRPr lang="fa-IR" sz="1200" dirty="0"/>
          </a:p>
          <a:p>
            <a:endParaRPr lang="fa-IR" sz="2000" dirty="0"/>
          </a:p>
        </p:txBody>
      </p:sp>
    </p:spTree>
    <p:extLst>
      <p:ext uri="{BB962C8B-B14F-4D97-AF65-F5344CB8AC3E}">
        <p14:creationId xmlns:p14="http://schemas.microsoft.com/office/powerpoint/2010/main" val="14740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114" y="365760"/>
            <a:ext cx="7269480" cy="1325562"/>
          </a:xfrm>
        </p:spPr>
        <p:txBody>
          <a:bodyPr/>
          <a:lstStyle/>
          <a:p>
            <a:r>
              <a:rPr lang="en-US" dirty="0" smtClean="0"/>
              <a:t>Implementations</a:t>
            </a:r>
            <a:endParaRPr lang="fa-I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979313"/>
              </p:ext>
            </p:extLst>
          </p:nvPr>
        </p:nvGraphicFramePr>
        <p:xfrm>
          <a:off x="942060" y="2307364"/>
          <a:ext cx="6423588" cy="248307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53383"/>
                <a:gridCol w="1726251"/>
                <a:gridCol w="1838057"/>
                <a:gridCol w="1605897"/>
              </a:tblGrid>
              <a:tr h="580062"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Language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University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Main</a:t>
                      </a:r>
                      <a:r>
                        <a:rPr lang="en-US" sz="1600" baseline="0" dirty="0" smtClean="0"/>
                        <a:t> Contributors</a:t>
                      </a:r>
                      <a:endParaRPr lang="fa-I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Project Name</a:t>
                      </a:r>
                      <a:endParaRPr lang="fa-IR" sz="1600" dirty="0"/>
                    </a:p>
                  </a:txBody>
                  <a:tcPr/>
                </a:tc>
              </a:tr>
              <a:tr h="580063"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Java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CMU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Sprites</a:t>
                      </a:r>
                      <a:r>
                        <a:rPr lang="en-US" sz="1600" baseline="0" dirty="0" smtClean="0"/>
                        <a:t> and </a:t>
                      </a:r>
                      <a:r>
                        <a:rPr lang="en-US" sz="1600" dirty="0" err="1" smtClean="0"/>
                        <a:t>Glymour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Tetrad</a:t>
                      </a:r>
                      <a:endParaRPr lang="fa-IR" sz="1600" dirty="0"/>
                    </a:p>
                  </a:txBody>
                  <a:tcPr anchor="ctr"/>
                </a:tc>
              </a:tr>
              <a:tr h="580063"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R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ETH, MPI, …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Many!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err="1" smtClean="0"/>
                        <a:t>PCalg</a:t>
                      </a:r>
                      <a:endParaRPr lang="en-US" sz="1600" dirty="0" smtClean="0"/>
                    </a:p>
                  </a:txBody>
                  <a:tcPr anchor="ctr"/>
                </a:tc>
              </a:tr>
              <a:tr h="371444"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Python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Purdue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err="1" smtClean="0"/>
                        <a:t>Bareinboim</a:t>
                      </a:r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Auto-</a:t>
                      </a:r>
                      <a:r>
                        <a:rPr lang="en-US" sz="1600" dirty="0" err="1" smtClean="0"/>
                        <a:t>Angrist</a:t>
                      </a:r>
                      <a:endParaRPr lang="fa-IR" sz="1600" dirty="0"/>
                    </a:p>
                  </a:txBody>
                  <a:tcPr anchor="ctr"/>
                </a:tc>
              </a:tr>
              <a:tr h="371444">
                <a:tc>
                  <a:txBody>
                    <a:bodyPr/>
                    <a:lstStyle/>
                    <a:p>
                      <a:pPr algn="ctr" rtl="0"/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fa-I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fa-I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smtClean="0"/>
                        <a:t>…</a:t>
                      </a:r>
                      <a:endParaRPr lang="fa-IR" sz="16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9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mtClean="0"/>
              <a:t>Behrad Moniri - CI in Neuroimaging 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 idx="4294967295"/>
          </p:nvPr>
        </p:nvSpPr>
        <p:spPr>
          <a:xfrm>
            <a:off x="2916486" y="3426833"/>
            <a:ext cx="3044122" cy="688157"/>
          </a:xfrm>
        </p:spPr>
        <p:txBody>
          <a:bodyPr>
            <a:normAutofit/>
          </a:bodyPr>
          <a:lstStyle/>
          <a:p>
            <a:pPr algn="r" rtl="0"/>
            <a:r>
              <a:rPr lang="en-US" dirty="0" smtClean="0"/>
              <a:t>Questions?	</a:t>
            </a:r>
            <a:endParaRPr lang="fa-IR" dirty="0"/>
          </a:p>
        </p:txBody>
      </p:sp>
      <p:sp>
        <p:nvSpPr>
          <p:cNvPr id="7" name="TextBox 6"/>
          <p:cNvSpPr txBox="1"/>
          <p:nvPr/>
        </p:nvSpPr>
        <p:spPr>
          <a:xfrm>
            <a:off x="2756836" y="6019800"/>
            <a:ext cx="3363421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dirty="0" smtClean="0">
                <a:hlinkClick r:id="rId2"/>
              </a:rPr>
              <a:t>http://ee.sharif.edu/~bemoniri</a:t>
            </a:r>
            <a:endParaRPr lang="en-US" dirty="0" smtClean="0"/>
          </a:p>
          <a:p>
            <a:pPr algn="ctr"/>
            <a:r>
              <a:rPr lang="en-US" dirty="0" smtClean="0"/>
              <a:t>bemoniri@live.com</a:t>
            </a:r>
            <a:endParaRPr lang="fa-I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670" y="459931"/>
            <a:ext cx="4484406" cy="18739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46" y="692302"/>
            <a:ext cx="1931324" cy="2336962"/>
          </a:xfrm>
          <a:prstGeom prst="rect">
            <a:avLst/>
          </a:prstGeom>
        </p:spPr>
      </p:pic>
      <p:sp>
        <p:nvSpPr>
          <p:cNvPr id="11" name="AutoShape 4" descr="Image result for scholkopf"/>
          <p:cNvSpPr>
            <a:spLocks noChangeAspect="1" noChangeArrowheads="1"/>
          </p:cNvSpPr>
          <p:nvPr/>
        </p:nvSpPr>
        <p:spPr bwMode="auto">
          <a:xfrm>
            <a:off x="155575" y="-1143000"/>
            <a:ext cx="19240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a-IR"/>
          </a:p>
        </p:txBody>
      </p:sp>
      <p:pic>
        <p:nvPicPr>
          <p:cNvPr id="1036" name="Picture 12" descr="Image result for frist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875" y="3426833"/>
            <a:ext cx="1620299" cy="217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janzi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68" y="3512591"/>
            <a:ext cx="1590235" cy="213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Related imag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27" y="692302"/>
            <a:ext cx="1451193" cy="209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D6EB-3F97-4025-A8F1-03074C73676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9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4885</TotalTime>
  <Words>1989</Words>
  <Application>Microsoft Office PowerPoint</Application>
  <PresentationFormat>On-screen Show (4:3)</PresentationFormat>
  <Paragraphs>433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Calibri</vt:lpstr>
      <vt:lpstr>Cambria Math</vt:lpstr>
      <vt:lpstr>Century Schoolbook</vt:lpstr>
      <vt:lpstr>Courier New</vt:lpstr>
      <vt:lpstr>Tahoma</vt:lpstr>
      <vt:lpstr>Wingdings 2</vt:lpstr>
      <vt:lpstr>View</vt:lpstr>
      <vt:lpstr>Causal Inference and its Applications in Neuroimaging</vt:lpstr>
      <vt:lpstr>Contents</vt:lpstr>
      <vt:lpstr>Causal Inference Framework</vt:lpstr>
      <vt:lpstr>PowerPoint Presentation</vt:lpstr>
      <vt:lpstr>PowerPoint Presentation</vt:lpstr>
      <vt:lpstr>Goal of Causal Inference</vt:lpstr>
      <vt:lpstr>Intervention and Observation</vt:lpstr>
      <vt:lpstr>PowerPoint Presentation</vt:lpstr>
      <vt:lpstr>Structural Equation Models</vt:lpstr>
      <vt:lpstr>Structural Equation Models</vt:lpstr>
      <vt:lpstr>PowerPoint Presentation</vt:lpstr>
      <vt:lpstr>d-separation</vt:lpstr>
      <vt:lpstr>Markov Property and Faithfulness</vt:lpstr>
      <vt:lpstr>Markov Equivalent Classes</vt:lpstr>
      <vt:lpstr>Causal Learning Algorithms and Neuroimaging!</vt:lpstr>
      <vt:lpstr>Two families of  learning algorithms</vt:lpstr>
      <vt:lpstr>PC Algorithm</vt:lpstr>
      <vt:lpstr>The Problem!</vt:lpstr>
      <vt:lpstr>PC and Neuroimaging</vt:lpstr>
      <vt:lpstr>Greedy Search</vt:lpstr>
      <vt:lpstr>Greedy Search</vt:lpstr>
      <vt:lpstr>GES in Neuroimaging</vt:lpstr>
      <vt:lpstr>GES in Neuroimaging</vt:lpstr>
      <vt:lpstr>LiNGAM (Linear Non-Gaussian Acyclic Models)</vt:lpstr>
      <vt:lpstr>LiNGAM in Neuroimaging </vt:lpstr>
      <vt:lpstr>Additive Noise Models</vt:lpstr>
      <vt:lpstr>Intuition </vt:lpstr>
      <vt:lpstr>Multivariate ANM</vt:lpstr>
      <vt:lpstr>RESIT Algorithm</vt:lpstr>
      <vt:lpstr>Multivariate ANM</vt:lpstr>
      <vt:lpstr>ANM and Neuroimaging</vt:lpstr>
      <vt:lpstr>Fast Causal Inference!</vt:lpstr>
      <vt:lpstr>Partial Ancestral Graphs</vt:lpstr>
      <vt:lpstr>FCI in Neuroimaging</vt:lpstr>
      <vt:lpstr>FCI in Neuroimaging</vt:lpstr>
      <vt:lpstr>Granger Causality</vt:lpstr>
      <vt:lpstr>Granger Causality</vt:lpstr>
      <vt:lpstr>Granger Causality</vt:lpstr>
      <vt:lpstr>Instantaneous Effect</vt:lpstr>
      <vt:lpstr>Granger Causality in Neuroimaging</vt:lpstr>
      <vt:lpstr>TiMINo Causality</vt:lpstr>
      <vt:lpstr>TiMINo in Neuroimaging</vt:lpstr>
      <vt:lpstr>Dynamic Causal Modeling</vt:lpstr>
      <vt:lpstr>Dynamic Causal Models</vt:lpstr>
      <vt:lpstr>PowerPoint Presentation</vt:lpstr>
      <vt:lpstr>Dynamic Causal Modelling</vt:lpstr>
      <vt:lpstr>Criticism of DCM </vt:lpstr>
      <vt:lpstr>Criticism of DCM </vt:lpstr>
      <vt:lpstr>Stimulus Based Causal Inference</vt:lpstr>
      <vt:lpstr>MERLiN   Mixture Effect Recovery in Linear Networks</vt:lpstr>
      <vt:lpstr>MERLiN   Mixture Effect Recovery in Linear Networks</vt:lpstr>
      <vt:lpstr>Implementations</vt:lpstr>
      <vt:lpstr>Questions?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Encoding/Decoding Models and Causality</dc:title>
  <dc:creator>Behrad Moniri</dc:creator>
  <cp:lastModifiedBy>Behrad Moniri</cp:lastModifiedBy>
  <cp:revision>128</cp:revision>
  <dcterms:created xsi:type="dcterms:W3CDTF">2019-03-12T05:16:52Z</dcterms:created>
  <dcterms:modified xsi:type="dcterms:W3CDTF">2019-04-26T06:54:49Z</dcterms:modified>
</cp:coreProperties>
</file>